
<file path=[Content_Types].xml><?xml version="1.0" encoding="utf-8"?>
<Types xmlns="http://schemas.openxmlformats.org/package/2006/content-types">
  <Default ContentType="application/vnd.openxmlformats-officedocument.oleObject" Extension="bin"/>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x="18288000" cy="10287000"/>
  <p:notesSz cx="6858000" cy="9144000"/>
  <p:embeddedFontLst>
    <p:embeddedFont>
      <p:font typeface="Montaser Arabic Ultra-Bold" charset="1" panose="00000900000000000000"/>
      <p:regular r:id="rId25"/>
    </p:embeddedFont>
    <p:embeddedFont>
      <p:font typeface="Montaser Arabic" charset="1" panose="00000500000000000000"/>
      <p:regular r:id="rId26"/>
    </p:embeddedFont>
    <p:embeddedFont>
      <p:font typeface="TT Firs Neue" charset="1" panose="02000503030000020004"/>
      <p:regular r:id="rId27"/>
    </p:embeddedFont>
    <p:embeddedFont>
      <p:font typeface="Montaser Arabic Bold" charset="1" panose="00000800000000000000"/>
      <p:regular r:id="rId28"/>
    </p:embeddedFont>
    <p:embeddedFont>
      <p:font typeface="TT Firs Neue Bold" charset="1" panose="02000803030000020004"/>
      <p:regular r:id="rId29"/>
    </p:embeddedFont>
    <p:embeddedFont>
      <p:font typeface="TT Firs Neue Italics" charset="1" panose="02000503030000090004"/>
      <p:regular r:id="rId3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fonts/font25.fntdata" Type="http://schemas.openxmlformats.org/officeDocument/2006/relationships/font"/><Relationship Id="rId26" Target="fonts/font26.fntdata" Type="http://schemas.openxmlformats.org/officeDocument/2006/relationships/font"/><Relationship Id="rId27" Target="fonts/font27.fntdata" Type="http://schemas.openxmlformats.org/officeDocument/2006/relationships/font"/><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14.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16.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18.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 Id="rId3" Target="../media/image20.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 Id="rId3" Target="../embeddings/oleObject1.bin" Type="http://schemas.openxmlformats.org/officeDocument/2006/relationships/oleObject"/><Relationship Id="rId4" Target="../media/image22.png" Type="http://schemas.openxmlformats.org/officeDocument/2006/relationships/image"/><Relationship Id="rId5" Target="../media/image23.png" Type="http://schemas.openxmlformats.org/officeDocument/2006/relationships/image"/><Relationship Id="rId6" Target="../media/image24.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5.png" Type="http://schemas.openxmlformats.org/officeDocument/2006/relationships/image"/><Relationship Id="rId3" Target="../media/image26.png" Type="http://schemas.openxmlformats.org/officeDocument/2006/relationships/image"/><Relationship Id="rId4" Target="../media/image27.png" Type="http://schemas.openxmlformats.org/officeDocument/2006/relationships/image"/><Relationship Id="rId5" Target="../media/image28.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9.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0.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5393001" y="865749"/>
            <a:ext cx="6930015" cy="6930015"/>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940"/>
                </a:lnSpc>
              </a:pPr>
            </a:p>
          </p:txBody>
        </p:sp>
      </p:grpSp>
      <p:grpSp>
        <p:nvGrpSpPr>
          <p:cNvPr name="Group 5" id="5"/>
          <p:cNvGrpSpPr/>
          <p:nvPr/>
        </p:nvGrpSpPr>
        <p:grpSpPr>
          <a:xfrm rot="0">
            <a:off x="5591874" y="1064622"/>
            <a:ext cx="6532269" cy="6532269"/>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2"/>
              <a:stretch>
                <a:fillRect l="0" t="-321" r="0" b="-321"/>
              </a:stretch>
            </a:blipFill>
          </p:spPr>
        </p:sp>
      </p:grpSp>
      <p:sp>
        <p:nvSpPr>
          <p:cNvPr name="TextBox 7" id="7"/>
          <p:cNvSpPr txBox="true"/>
          <p:nvPr/>
        </p:nvSpPr>
        <p:spPr>
          <a:xfrm rot="0">
            <a:off x="5278841" y="8072538"/>
            <a:ext cx="7158335" cy="412750"/>
          </a:xfrm>
          <a:prstGeom prst="rect">
            <a:avLst/>
          </a:prstGeom>
        </p:spPr>
        <p:txBody>
          <a:bodyPr anchor="t" rtlCol="false" tIns="0" lIns="0" bIns="0" rIns="0">
            <a:spAutoFit/>
          </a:bodyPr>
          <a:lstStyle/>
          <a:p>
            <a:pPr algn="ctr">
              <a:lnSpc>
                <a:spcPts val="3499"/>
              </a:lnSpc>
              <a:spcBef>
                <a:spcPct val="0"/>
              </a:spcBef>
            </a:pPr>
            <a:r>
              <a:rPr lang="en-US" b="true" sz="2499">
                <a:solidFill>
                  <a:srgbClr val="FFFFFF"/>
                </a:solidFill>
                <a:latin typeface="Montaser Arabic Ultra-Bold"/>
                <a:ea typeface="Montaser Arabic Ultra-Bold"/>
                <a:cs typeface="Montaser Arabic Ultra-Bold"/>
                <a:sym typeface="Montaser Arabic Ultra-Bold"/>
              </a:rPr>
              <a:t>MAKING LIFE EASIER ONE WASH AT A TIME</a:t>
            </a:r>
          </a:p>
        </p:txBody>
      </p:sp>
      <p:sp>
        <p:nvSpPr>
          <p:cNvPr name="TextBox 8" id="8"/>
          <p:cNvSpPr txBox="true"/>
          <p:nvPr/>
        </p:nvSpPr>
        <p:spPr>
          <a:xfrm rot="0">
            <a:off x="4237509" y="9031605"/>
            <a:ext cx="9812982" cy="471805"/>
          </a:xfrm>
          <a:prstGeom prst="rect">
            <a:avLst/>
          </a:prstGeom>
        </p:spPr>
        <p:txBody>
          <a:bodyPr anchor="t" rtlCol="false" tIns="0" lIns="0" bIns="0" rIns="0">
            <a:spAutoFit/>
          </a:bodyPr>
          <a:lstStyle/>
          <a:p>
            <a:pPr algn="ctr">
              <a:lnSpc>
                <a:spcPts val="3919"/>
              </a:lnSpc>
              <a:spcBef>
                <a:spcPct val="0"/>
              </a:spcBef>
            </a:pPr>
            <a:r>
              <a:rPr lang="en-US" sz="2799">
                <a:solidFill>
                  <a:srgbClr val="AB2609"/>
                </a:solidFill>
                <a:latin typeface="Montaser Arabic"/>
                <a:ea typeface="Montaser Arabic"/>
                <a:cs typeface="Montaser Arabic"/>
                <a:sym typeface="Montaser Arabic"/>
              </a:rPr>
              <a:t>Maitrey Desai, Ava Groh, Tyler Yin, and Ryan Satarawalla</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998290" y="2268415"/>
            <a:ext cx="8414727" cy="8843732"/>
            <a:chOff x="0" y="0"/>
            <a:chExt cx="2377428" cy="2498635"/>
          </a:xfrm>
        </p:grpSpPr>
        <p:sp>
          <p:nvSpPr>
            <p:cNvPr name="Freeform 3" id="3"/>
            <p:cNvSpPr/>
            <p:nvPr/>
          </p:nvSpPr>
          <p:spPr>
            <a:xfrm flipH="false" flipV="false" rot="0">
              <a:off x="0" y="0"/>
              <a:ext cx="2377428" cy="2498635"/>
            </a:xfrm>
            <a:custGeom>
              <a:avLst/>
              <a:gdLst/>
              <a:ahLst/>
              <a:cxnLst/>
              <a:rect r="r" b="b" t="t" l="l"/>
              <a:pathLst>
                <a:path h="2498635" w="2377428">
                  <a:moveTo>
                    <a:pt x="54283" y="0"/>
                  </a:moveTo>
                  <a:lnTo>
                    <a:pt x="2323145" y="0"/>
                  </a:lnTo>
                  <a:cubicBezTo>
                    <a:pt x="2353125" y="0"/>
                    <a:pt x="2377428" y="24303"/>
                    <a:pt x="2377428" y="54283"/>
                  </a:cubicBezTo>
                  <a:lnTo>
                    <a:pt x="2377428" y="2444353"/>
                  </a:lnTo>
                  <a:cubicBezTo>
                    <a:pt x="2377428" y="2458750"/>
                    <a:pt x="2371709" y="2472556"/>
                    <a:pt x="2361529" y="2482736"/>
                  </a:cubicBezTo>
                  <a:cubicBezTo>
                    <a:pt x="2351349" y="2492916"/>
                    <a:pt x="2337542" y="2498635"/>
                    <a:pt x="2323145" y="2498635"/>
                  </a:cubicBezTo>
                  <a:lnTo>
                    <a:pt x="54283" y="2498635"/>
                  </a:lnTo>
                  <a:cubicBezTo>
                    <a:pt x="39886" y="2498635"/>
                    <a:pt x="26079" y="2492916"/>
                    <a:pt x="15899" y="2482736"/>
                  </a:cubicBezTo>
                  <a:cubicBezTo>
                    <a:pt x="5719" y="2472556"/>
                    <a:pt x="0" y="2458750"/>
                    <a:pt x="0" y="2444353"/>
                  </a:cubicBezTo>
                  <a:lnTo>
                    <a:pt x="0" y="54283"/>
                  </a:lnTo>
                  <a:cubicBezTo>
                    <a:pt x="0" y="39886"/>
                    <a:pt x="5719" y="26079"/>
                    <a:pt x="15899" y="15899"/>
                  </a:cubicBezTo>
                  <a:cubicBezTo>
                    <a:pt x="26079" y="5719"/>
                    <a:pt x="39886" y="0"/>
                    <a:pt x="54283" y="0"/>
                  </a:cubicBezTo>
                  <a:close/>
                </a:path>
              </a:pathLst>
            </a:custGeom>
            <a:solidFill>
              <a:srgbClr val="FFFFFF"/>
            </a:solidFill>
          </p:spPr>
        </p:sp>
        <p:sp>
          <p:nvSpPr>
            <p:cNvPr name="TextBox 4" id="4"/>
            <p:cNvSpPr txBox="true"/>
            <p:nvPr/>
          </p:nvSpPr>
          <p:spPr>
            <a:xfrm>
              <a:off x="0" y="-38100"/>
              <a:ext cx="2377428" cy="2536735"/>
            </a:xfrm>
            <a:prstGeom prst="rect">
              <a:avLst/>
            </a:prstGeom>
          </p:spPr>
          <p:txBody>
            <a:bodyPr anchor="ctr" rtlCol="false" tIns="47355" lIns="47355" bIns="47355" rIns="47355"/>
            <a:lstStyle/>
            <a:p>
              <a:pPr algn="ctr">
                <a:lnSpc>
                  <a:spcPts val="2940"/>
                </a:lnSpc>
              </a:pPr>
            </a:p>
          </p:txBody>
        </p:sp>
      </p:grpSp>
      <p:sp>
        <p:nvSpPr>
          <p:cNvPr name="Freeform 5" id="5"/>
          <p:cNvSpPr/>
          <p:nvPr/>
        </p:nvSpPr>
        <p:spPr>
          <a:xfrm flipH="false" flipV="false" rot="0">
            <a:off x="1962751" y="6036887"/>
            <a:ext cx="3044652" cy="3735769"/>
          </a:xfrm>
          <a:custGeom>
            <a:avLst/>
            <a:gdLst/>
            <a:ahLst/>
            <a:cxnLst/>
            <a:rect r="r" b="b" t="t" l="l"/>
            <a:pathLst>
              <a:path h="3735769" w="3044652">
                <a:moveTo>
                  <a:pt x="0" y="0"/>
                </a:moveTo>
                <a:lnTo>
                  <a:pt x="3044652" y="0"/>
                </a:lnTo>
                <a:lnTo>
                  <a:pt x="3044652" y="3735770"/>
                </a:lnTo>
                <a:lnTo>
                  <a:pt x="0" y="3735770"/>
                </a:lnTo>
                <a:lnTo>
                  <a:pt x="0" y="0"/>
                </a:lnTo>
                <a:close/>
              </a:path>
            </a:pathLst>
          </a:custGeom>
          <a:blipFill>
            <a:blip r:embed="rId2"/>
            <a:stretch>
              <a:fillRect l="0" t="0" r="0" b="0"/>
            </a:stretch>
          </a:blipFill>
        </p:spPr>
      </p:sp>
      <p:sp>
        <p:nvSpPr>
          <p:cNvPr name="Freeform 6" id="6"/>
          <p:cNvSpPr/>
          <p:nvPr/>
        </p:nvSpPr>
        <p:spPr>
          <a:xfrm flipH="false" flipV="false" rot="0">
            <a:off x="6859067" y="6262010"/>
            <a:ext cx="9949511" cy="2996290"/>
          </a:xfrm>
          <a:custGeom>
            <a:avLst/>
            <a:gdLst/>
            <a:ahLst/>
            <a:cxnLst/>
            <a:rect r="r" b="b" t="t" l="l"/>
            <a:pathLst>
              <a:path h="2996290" w="9949511">
                <a:moveTo>
                  <a:pt x="0" y="0"/>
                </a:moveTo>
                <a:lnTo>
                  <a:pt x="9949511" y="0"/>
                </a:lnTo>
                <a:lnTo>
                  <a:pt x="9949511" y="2996290"/>
                </a:lnTo>
                <a:lnTo>
                  <a:pt x="0" y="2996290"/>
                </a:lnTo>
                <a:lnTo>
                  <a:pt x="0" y="0"/>
                </a:lnTo>
                <a:close/>
              </a:path>
            </a:pathLst>
          </a:custGeom>
          <a:blipFill>
            <a:blip r:embed="rId3"/>
            <a:stretch>
              <a:fillRect l="0" t="0" r="0" b="0"/>
            </a:stretch>
          </a:blipFill>
        </p:spPr>
      </p:sp>
      <p:sp>
        <p:nvSpPr>
          <p:cNvPr name="TextBox 7" id="7"/>
          <p:cNvSpPr txBox="true"/>
          <p:nvPr/>
        </p:nvSpPr>
        <p:spPr>
          <a:xfrm rot="0">
            <a:off x="1028700" y="1486222"/>
            <a:ext cx="16621650" cy="754761"/>
          </a:xfrm>
          <a:prstGeom prst="rect">
            <a:avLst/>
          </a:prstGeom>
        </p:spPr>
        <p:txBody>
          <a:bodyPr anchor="t" rtlCol="false" tIns="0" lIns="0" bIns="0" rIns="0">
            <a:spAutoFit/>
          </a:bodyPr>
          <a:lstStyle/>
          <a:p>
            <a:pPr algn="l" marL="0" indent="0" lvl="0">
              <a:lnSpc>
                <a:spcPts val="6192"/>
              </a:lnSpc>
            </a:pPr>
            <a:r>
              <a:rPr lang="en-US" b="true" sz="4800">
                <a:solidFill>
                  <a:srgbClr val="AB2609"/>
                </a:solidFill>
                <a:latin typeface="Montaser Arabic Ultra-Bold"/>
                <a:ea typeface="Montaser Arabic Ultra-Bold"/>
                <a:cs typeface="Montaser Arabic Ultra-Bold"/>
                <a:sym typeface="Montaser Arabic Ultra-Bold"/>
              </a:rPr>
              <a:t>Description of Our Business Concept</a:t>
            </a:r>
          </a:p>
        </p:txBody>
      </p:sp>
      <p:sp>
        <p:nvSpPr>
          <p:cNvPr name="TextBox 8" id="8"/>
          <p:cNvSpPr txBox="true"/>
          <p:nvPr/>
        </p:nvSpPr>
        <p:spPr>
          <a:xfrm rot="0">
            <a:off x="1028700" y="2639684"/>
            <a:ext cx="16230600" cy="2277110"/>
          </a:xfrm>
          <a:prstGeom prst="rect">
            <a:avLst/>
          </a:prstGeom>
        </p:spPr>
        <p:txBody>
          <a:bodyPr anchor="t" rtlCol="false" tIns="0" lIns="0" bIns="0" rIns="0">
            <a:spAutoFit/>
          </a:bodyPr>
          <a:lstStyle/>
          <a:p>
            <a:pPr algn="just">
              <a:lnSpc>
                <a:spcPts val="3639"/>
              </a:lnSpc>
            </a:pPr>
            <a:r>
              <a:rPr lang="en-US" sz="2599">
                <a:solidFill>
                  <a:srgbClr val="000000"/>
                </a:solidFill>
                <a:latin typeface="TT Firs Neue"/>
                <a:ea typeface="TT Firs Neue"/>
                <a:cs typeface="TT Firs Neue"/>
                <a:sym typeface="TT Firs Neue"/>
              </a:rPr>
              <a:t>An all in one business that supports college students through a service of doing their laundry at an affordable cost. </a:t>
            </a:r>
          </a:p>
          <a:p>
            <a:pPr algn="just">
              <a:lnSpc>
                <a:spcPts val="3639"/>
              </a:lnSpc>
            </a:pPr>
          </a:p>
          <a:p>
            <a:pPr algn="just" marL="0" indent="0" lvl="0">
              <a:lnSpc>
                <a:spcPts val="3639"/>
              </a:lnSpc>
              <a:spcBef>
                <a:spcPct val="0"/>
              </a:spcBef>
            </a:pPr>
            <a:r>
              <a:rPr lang="en-US" sz="2599">
                <a:solidFill>
                  <a:srgbClr val="000000"/>
                </a:solidFill>
                <a:latin typeface="TT Firs Neue"/>
                <a:ea typeface="TT Firs Neue"/>
                <a:cs typeface="TT Firs Neue"/>
                <a:sym typeface="TT Firs Neue"/>
              </a:rPr>
              <a:t>The product is a single time service with a supplement of a monthly based membership for long time members</a:t>
            </a:r>
          </a:p>
        </p:txBody>
      </p:sp>
      <p:sp>
        <p:nvSpPr>
          <p:cNvPr name="TextBox 9" id="9"/>
          <p:cNvSpPr txBox="true"/>
          <p:nvPr/>
        </p:nvSpPr>
        <p:spPr>
          <a:xfrm rot="0">
            <a:off x="2163395" y="970598"/>
            <a:ext cx="1766005" cy="396240"/>
          </a:xfrm>
          <a:prstGeom prst="rect">
            <a:avLst/>
          </a:prstGeom>
        </p:spPr>
        <p:txBody>
          <a:bodyPr anchor="t" rtlCol="false" tIns="0" lIns="0" bIns="0" rIns="0">
            <a:spAutoFit/>
          </a:bodyPr>
          <a:lstStyle/>
          <a:p>
            <a:pPr algn="l" marL="0" indent="0" lvl="0">
              <a:lnSpc>
                <a:spcPts val="3359"/>
              </a:lnSpc>
              <a:spcBef>
                <a:spcPct val="0"/>
              </a:spcBef>
            </a:pPr>
            <a:r>
              <a:rPr lang="en-US" b="true" sz="2400">
                <a:solidFill>
                  <a:srgbClr val="000000"/>
                </a:solidFill>
                <a:latin typeface="Montaser Arabic Ultra-Bold"/>
                <a:ea typeface="Montaser Arabic Ultra-Bold"/>
                <a:cs typeface="Montaser Arabic Ultra-Bold"/>
                <a:sym typeface="Montaser Arabic Ultra-Bold"/>
              </a:rPr>
              <a:t>Wash</a:t>
            </a:r>
          </a:p>
        </p:txBody>
      </p:sp>
      <p:sp>
        <p:nvSpPr>
          <p:cNvPr name="TextBox 10" id="10"/>
          <p:cNvSpPr txBox="true"/>
          <p:nvPr/>
        </p:nvSpPr>
        <p:spPr>
          <a:xfrm rot="0">
            <a:off x="1028700" y="970598"/>
            <a:ext cx="1583559" cy="396240"/>
          </a:xfrm>
          <a:prstGeom prst="rect">
            <a:avLst/>
          </a:prstGeom>
        </p:spPr>
        <p:txBody>
          <a:bodyPr anchor="t" rtlCol="false" tIns="0" lIns="0" bIns="0" rIns="0">
            <a:spAutoFit/>
          </a:bodyPr>
          <a:lstStyle/>
          <a:p>
            <a:pPr algn="l" marL="0" indent="0" lvl="0">
              <a:lnSpc>
                <a:spcPts val="3359"/>
              </a:lnSpc>
              <a:spcBef>
                <a:spcPct val="0"/>
              </a:spcBef>
            </a:pPr>
            <a:r>
              <a:rPr lang="en-US" b="true" sz="2400">
                <a:solidFill>
                  <a:srgbClr val="AB2609"/>
                </a:solidFill>
                <a:latin typeface="Montaser Arabic Ultra-Bold"/>
                <a:ea typeface="Montaser Arabic Ultra-Bold"/>
                <a:cs typeface="Montaser Arabic Ultra-Bold"/>
                <a:sym typeface="Montaser Arabic Ultra-Bold"/>
              </a:rPr>
              <a:t>Scarlet</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4238583" y="3475682"/>
            <a:ext cx="2657366" cy="2891741"/>
          </a:xfrm>
          <a:custGeom>
            <a:avLst/>
            <a:gdLst/>
            <a:ahLst/>
            <a:cxnLst/>
            <a:rect r="r" b="b" t="t" l="l"/>
            <a:pathLst>
              <a:path h="2891741" w="2657366">
                <a:moveTo>
                  <a:pt x="0" y="0"/>
                </a:moveTo>
                <a:lnTo>
                  <a:pt x="2657366" y="0"/>
                </a:lnTo>
                <a:lnTo>
                  <a:pt x="2657366" y="2891742"/>
                </a:lnTo>
                <a:lnTo>
                  <a:pt x="0" y="28917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028700" y="1486222"/>
            <a:ext cx="16621650" cy="754761"/>
          </a:xfrm>
          <a:prstGeom prst="rect">
            <a:avLst/>
          </a:prstGeom>
        </p:spPr>
        <p:txBody>
          <a:bodyPr anchor="t" rtlCol="false" tIns="0" lIns="0" bIns="0" rIns="0">
            <a:spAutoFit/>
          </a:bodyPr>
          <a:lstStyle/>
          <a:p>
            <a:pPr algn="l" marL="0" indent="0" lvl="0">
              <a:lnSpc>
                <a:spcPts val="6192"/>
              </a:lnSpc>
            </a:pPr>
            <a:r>
              <a:rPr lang="en-US" b="true" sz="4800">
                <a:solidFill>
                  <a:srgbClr val="AB2609"/>
                </a:solidFill>
                <a:latin typeface="Montaser Arabic Bold"/>
                <a:ea typeface="Montaser Arabic Bold"/>
                <a:cs typeface="Montaser Arabic Bold"/>
                <a:sym typeface="Montaser Arabic Bold"/>
              </a:rPr>
              <a:t>Customer Value Proposition </a:t>
            </a:r>
          </a:p>
        </p:txBody>
      </p:sp>
      <p:sp>
        <p:nvSpPr>
          <p:cNvPr name="TextBox 4" id="4"/>
          <p:cNvSpPr txBox="true"/>
          <p:nvPr/>
        </p:nvSpPr>
        <p:spPr>
          <a:xfrm rot="0">
            <a:off x="1028700" y="2717800"/>
            <a:ext cx="12209529" cy="5153963"/>
          </a:xfrm>
          <a:prstGeom prst="rect">
            <a:avLst/>
          </a:prstGeom>
        </p:spPr>
        <p:txBody>
          <a:bodyPr anchor="t" rtlCol="false" tIns="0" lIns="0" bIns="0" rIns="0">
            <a:spAutoFit/>
          </a:bodyPr>
          <a:lstStyle/>
          <a:p>
            <a:pPr algn="just" marL="0" indent="0" lvl="0">
              <a:lnSpc>
                <a:spcPts val="3440"/>
              </a:lnSpc>
              <a:spcBef>
                <a:spcPct val="0"/>
              </a:spcBef>
            </a:pPr>
            <a:r>
              <a:rPr lang="en-US" sz="2457">
                <a:solidFill>
                  <a:srgbClr val="000000"/>
                </a:solidFill>
                <a:latin typeface="TT Firs Neue"/>
                <a:ea typeface="TT Firs Neue"/>
                <a:cs typeface="TT Firs Neue"/>
                <a:sym typeface="TT Firs Neue"/>
              </a:rPr>
              <a:t>Scarlet Wash builds the bridge to a convenient and time saving alternative to the current college laundry routine by eliminating one of the most time consuming weekly tasks. Instead of spending useless time searching for empty open machines, waiting for cycles to finish, folding clothes, and balancing laundry around academic and social commitments, students can rely on our affordable membership plans for consistent, dependable service. With very simple drop off and pick up locations, Scarlet Wash takes care of washing, drying, and returning clothes folded so students can always maintain a closet full of clean, fresh clothing without interruption to their schedules. Our service allows the ever busy studentst to embark on other meaningful tasks. By offering convenience, quality, and value, Scarlet Wash supports students in achieving a better balance and maximizing their college experience.</a:t>
            </a:r>
          </a:p>
        </p:txBody>
      </p:sp>
      <p:sp>
        <p:nvSpPr>
          <p:cNvPr name="TextBox 5" id="5"/>
          <p:cNvSpPr txBox="true"/>
          <p:nvPr/>
        </p:nvSpPr>
        <p:spPr>
          <a:xfrm rot="0">
            <a:off x="2163395" y="970598"/>
            <a:ext cx="1766005" cy="396240"/>
          </a:xfrm>
          <a:prstGeom prst="rect">
            <a:avLst/>
          </a:prstGeom>
        </p:spPr>
        <p:txBody>
          <a:bodyPr anchor="t" rtlCol="false" tIns="0" lIns="0" bIns="0" rIns="0">
            <a:spAutoFit/>
          </a:bodyPr>
          <a:lstStyle/>
          <a:p>
            <a:pPr algn="l" marL="0" indent="0" lvl="0">
              <a:lnSpc>
                <a:spcPts val="3359"/>
              </a:lnSpc>
              <a:spcBef>
                <a:spcPct val="0"/>
              </a:spcBef>
            </a:pPr>
            <a:r>
              <a:rPr lang="en-US" b="true" sz="2400">
                <a:solidFill>
                  <a:srgbClr val="000000"/>
                </a:solidFill>
                <a:latin typeface="Montaser Arabic Ultra-Bold"/>
                <a:ea typeface="Montaser Arabic Ultra-Bold"/>
                <a:cs typeface="Montaser Arabic Ultra-Bold"/>
                <a:sym typeface="Montaser Arabic Ultra-Bold"/>
              </a:rPr>
              <a:t>Wash</a:t>
            </a:r>
          </a:p>
        </p:txBody>
      </p:sp>
      <p:sp>
        <p:nvSpPr>
          <p:cNvPr name="TextBox 6" id="6"/>
          <p:cNvSpPr txBox="true"/>
          <p:nvPr/>
        </p:nvSpPr>
        <p:spPr>
          <a:xfrm rot="0">
            <a:off x="1028700" y="970598"/>
            <a:ext cx="1583559" cy="396240"/>
          </a:xfrm>
          <a:prstGeom prst="rect">
            <a:avLst/>
          </a:prstGeom>
        </p:spPr>
        <p:txBody>
          <a:bodyPr anchor="t" rtlCol="false" tIns="0" lIns="0" bIns="0" rIns="0">
            <a:spAutoFit/>
          </a:bodyPr>
          <a:lstStyle/>
          <a:p>
            <a:pPr algn="l" marL="0" indent="0" lvl="0">
              <a:lnSpc>
                <a:spcPts val="3359"/>
              </a:lnSpc>
              <a:spcBef>
                <a:spcPct val="0"/>
              </a:spcBef>
            </a:pPr>
            <a:r>
              <a:rPr lang="en-US" b="true" sz="2400">
                <a:solidFill>
                  <a:srgbClr val="AB2609"/>
                </a:solidFill>
                <a:latin typeface="Montaser Arabic Ultra-Bold"/>
                <a:ea typeface="Montaser Arabic Ultra-Bold"/>
                <a:cs typeface="Montaser Arabic Ultra-Bold"/>
                <a:sym typeface="Montaser Arabic Ultra-Bold"/>
              </a:rPr>
              <a:t>Scarlet</a:t>
            </a:r>
          </a:p>
        </p:txBody>
      </p:sp>
    </p:spTree>
  </p:cSld>
  <p:clrMapOvr>
    <a:masterClrMapping/>
  </p:clrMapOvr>
</p:sld>
</file>

<file path=ppt/slides/slide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10998290" y="2268415"/>
            <a:ext cx="8414727" cy="8843732"/>
            <a:chOff x="0" y="0"/>
            <a:chExt cx="2377428" cy="2498635"/>
          </a:xfrm>
        </p:grpSpPr>
        <p:sp>
          <p:nvSpPr>
            <p:cNvPr name="Freeform 3" id="3"/>
            <p:cNvSpPr/>
            <p:nvPr/>
          </p:nvSpPr>
          <p:spPr>
            <a:xfrm flipH="false" flipV="false" rot="0">
              <a:off x="0" y="0"/>
              <a:ext cx="2377428" cy="2498635"/>
            </a:xfrm>
            <a:custGeom>
              <a:avLst/>
              <a:gdLst/>
              <a:ahLst/>
              <a:cxnLst/>
              <a:rect r="r" b="b" t="t" l="l"/>
              <a:pathLst>
                <a:path h="2498635" w="2377428">
                  <a:moveTo>
                    <a:pt x="54283" y="0"/>
                  </a:moveTo>
                  <a:lnTo>
                    <a:pt x="2323145" y="0"/>
                  </a:lnTo>
                  <a:cubicBezTo>
                    <a:pt x="2353125" y="0"/>
                    <a:pt x="2377428" y="24303"/>
                    <a:pt x="2377428" y="54283"/>
                  </a:cubicBezTo>
                  <a:lnTo>
                    <a:pt x="2377428" y="2444353"/>
                  </a:lnTo>
                  <a:cubicBezTo>
                    <a:pt x="2377428" y="2458750"/>
                    <a:pt x="2371709" y="2472556"/>
                    <a:pt x="2361529" y="2482736"/>
                  </a:cubicBezTo>
                  <a:cubicBezTo>
                    <a:pt x="2351349" y="2492916"/>
                    <a:pt x="2337542" y="2498635"/>
                    <a:pt x="2323145" y="2498635"/>
                  </a:cubicBezTo>
                  <a:lnTo>
                    <a:pt x="54283" y="2498635"/>
                  </a:lnTo>
                  <a:cubicBezTo>
                    <a:pt x="39886" y="2498635"/>
                    <a:pt x="26079" y="2492916"/>
                    <a:pt x="15899" y="2482736"/>
                  </a:cubicBezTo>
                  <a:cubicBezTo>
                    <a:pt x="5719" y="2472556"/>
                    <a:pt x="0" y="2458750"/>
                    <a:pt x="0" y="2444353"/>
                  </a:cubicBezTo>
                  <a:lnTo>
                    <a:pt x="0" y="54283"/>
                  </a:lnTo>
                  <a:cubicBezTo>
                    <a:pt x="0" y="39886"/>
                    <a:pt x="5719" y="26079"/>
                    <a:pt x="15899" y="15899"/>
                  </a:cubicBezTo>
                  <a:cubicBezTo>
                    <a:pt x="26079" y="5719"/>
                    <a:pt x="39886" y="0"/>
                    <a:pt x="54283" y="0"/>
                  </a:cubicBezTo>
                  <a:close/>
                </a:path>
              </a:pathLst>
            </a:custGeom>
            <a:solidFill>
              <a:srgbClr val="FFFFFF"/>
            </a:solidFill>
          </p:spPr>
        </p:sp>
        <p:sp>
          <p:nvSpPr>
            <p:cNvPr name="TextBox 4" id="4"/>
            <p:cNvSpPr txBox="true"/>
            <p:nvPr/>
          </p:nvSpPr>
          <p:spPr>
            <a:xfrm>
              <a:off x="0" y="-38100"/>
              <a:ext cx="2377428" cy="2536735"/>
            </a:xfrm>
            <a:prstGeom prst="rect">
              <a:avLst/>
            </a:prstGeom>
          </p:spPr>
          <p:txBody>
            <a:bodyPr anchor="ctr" rtlCol="false" tIns="47355" lIns="47355" bIns="47355" rIns="47355"/>
            <a:lstStyle/>
            <a:p>
              <a:pPr algn="ctr">
                <a:lnSpc>
                  <a:spcPts val="2940"/>
                </a:lnSpc>
              </a:pPr>
            </a:p>
          </p:txBody>
        </p:sp>
      </p:grpSp>
      <p:sp>
        <p:nvSpPr>
          <p:cNvPr name="TextBox 5" id="5"/>
          <p:cNvSpPr txBox="true"/>
          <p:nvPr/>
        </p:nvSpPr>
        <p:spPr>
          <a:xfrm rot="0">
            <a:off x="1028700" y="1486222"/>
            <a:ext cx="16621650" cy="754761"/>
          </a:xfrm>
          <a:prstGeom prst="rect">
            <a:avLst/>
          </a:prstGeom>
        </p:spPr>
        <p:txBody>
          <a:bodyPr anchor="t" rtlCol="false" tIns="0" lIns="0" bIns="0" rIns="0">
            <a:spAutoFit/>
          </a:bodyPr>
          <a:lstStyle/>
          <a:p>
            <a:pPr algn="l" marL="0" indent="0" lvl="0">
              <a:lnSpc>
                <a:spcPts val="6192"/>
              </a:lnSpc>
            </a:pPr>
            <a:r>
              <a:rPr lang="en-US" b="true" sz="4800">
                <a:solidFill>
                  <a:srgbClr val="AB2609"/>
                </a:solidFill>
                <a:latin typeface="Montaser Arabic Bold"/>
                <a:ea typeface="Montaser Arabic Bold"/>
                <a:cs typeface="Montaser Arabic Bold"/>
                <a:sym typeface="Montaser Arabic Bold"/>
              </a:rPr>
              <a:t>Vision , Mission , &amp; Core Values </a:t>
            </a:r>
          </a:p>
        </p:txBody>
      </p:sp>
      <p:sp>
        <p:nvSpPr>
          <p:cNvPr name="TextBox 6" id="6"/>
          <p:cNvSpPr txBox="true"/>
          <p:nvPr/>
        </p:nvSpPr>
        <p:spPr>
          <a:xfrm rot="0">
            <a:off x="1028700" y="2666648"/>
            <a:ext cx="16230600" cy="9271635"/>
          </a:xfrm>
          <a:prstGeom prst="rect">
            <a:avLst/>
          </a:prstGeom>
        </p:spPr>
        <p:txBody>
          <a:bodyPr anchor="t" rtlCol="false" tIns="0" lIns="0" bIns="0" rIns="0">
            <a:spAutoFit/>
          </a:bodyPr>
          <a:lstStyle/>
          <a:p>
            <a:pPr algn="just">
              <a:lnSpc>
                <a:spcPts val="2940"/>
              </a:lnSpc>
            </a:pPr>
            <a:r>
              <a:rPr lang="en-US" sz="2100" b="true">
                <a:solidFill>
                  <a:srgbClr val="000000"/>
                </a:solidFill>
                <a:latin typeface="TT Firs Neue Bold"/>
                <a:ea typeface="TT Firs Neue Bold"/>
                <a:cs typeface="TT Firs Neue Bold"/>
                <a:sym typeface="TT Firs Neue Bold"/>
              </a:rPr>
              <a:t>Vision</a:t>
            </a:r>
            <a:r>
              <a:rPr lang="en-US" sz="2100">
                <a:solidFill>
                  <a:srgbClr val="000000"/>
                </a:solidFill>
                <a:latin typeface="TT Firs Neue"/>
                <a:ea typeface="TT Firs Neue"/>
                <a:cs typeface="TT Firs Neue"/>
                <a:sym typeface="TT Firs Neue"/>
              </a:rPr>
              <a:t> - Redefining the way college students manage their time by lifting the burden of laundry from their daily lives.</a:t>
            </a:r>
          </a:p>
          <a:p>
            <a:pPr algn="just">
              <a:lnSpc>
                <a:spcPts val="2940"/>
              </a:lnSpc>
            </a:pPr>
            <a:r>
              <a:rPr lang="en-US" sz="2100" b="true">
                <a:solidFill>
                  <a:srgbClr val="000000"/>
                </a:solidFill>
                <a:latin typeface="TT Firs Neue Bold"/>
                <a:ea typeface="TT Firs Neue Bold"/>
                <a:cs typeface="TT Firs Neue Bold"/>
                <a:sym typeface="TT Firs Neue Bold"/>
              </a:rPr>
              <a:t>Mission</a:t>
            </a:r>
            <a:r>
              <a:rPr lang="en-US" sz="2100">
                <a:solidFill>
                  <a:srgbClr val="000000"/>
                </a:solidFill>
                <a:latin typeface="TT Firs Neue"/>
                <a:ea typeface="TT Firs Neue"/>
                <a:cs typeface="TT Firs Neue"/>
                <a:sym typeface="TT Firs Neue"/>
              </a:rPr>
              <a:t>- Simplifying student life by providing affordable, reliable, and stress-free laundry services, this venture partners with universities to offer on-campus laundry drop-off and pick-up locations, flexible subscription or pay-per-use options, and adequate turnaround times. By replacing the hassle of laundry with a service designed specifically for students, we save students time, stress, and ensure fresh, ready-to-wear clothes. Focused on convenience, quality, and value, our service empowers students to optimize their time and focus on what matters most.</a:t>
            </a:r>
          </a:p>
          <a:p>
            <a:pPr algn="just" marL="453390" indent="-226695" lvl="1">
              <a:lnSpc>
                <a:spcPts val="2940"/>
              </a:lnSpc>
              <a:buFont typeface="Arial"/>
              <a:buChar char="•"/>
            </a:pPr>
            <a:r>
              <a:rPr lang="en-US" sz="2100">
                <a:solidFill>
                  <a:srgbClr val="000000"/>
                </a:solidFill>
                <a:latin typeface="TT Firs Neue"/>
                <a:ea typeface="TT Firs Neue"/>
                <a:cs typeface="TT Firs Neue"/>
                <a:sym typeface="TT Firs Neue"/>
              </a:rPr>
              <a:t>Affordability - Using a budget friendly cost for the plans, puts students financial worries out of the way while focusing on helping students</a:t>
            </a:r>
          </a:p>
          <a:p>
            <a:pPr algn="just" marL="453390" indent="-226695" lvl="1">
              <a:lnSpc>
                <a:spcPts val="2940"/>
              </a:lnSpc>
              <a:buFont typeface="Arial"/>
              <a:buChar char="•"/>
            </a:pPr>
            <a:r>
              <a:rPr lang="en-US" sz="2100">
                <a:solidFill>
                  <a:srgbClr val="000000"/>
                </a:solidFill>
                <a:latin typeface="TT Firs Neue"/>
                <a:ea typeface="TT Firs Neue"/>
                <a:cs typeface="TT Firs Neue"/>
                <a:sym typeface="TT Firs Neue"/>
              </a:rPr>
              <a:t>Quality/efficiency – Holding high standards to ensure the customer that they can have full faith that their articles of clothing will be in good hands.</a:t>
            </a:r>
          </a:p>
          <a:p>
            <a:pPr algn="just" marL="453390" indent="-226695" lvl="1">
              <a:lnSpc>
                <a:spcPts val="2940"/>
              </a:lnSpc>
              <a:buFont typeface="Arial"/>
              <a:buChar char="•"/>
            </a:pPr>
            <a:r>
              <a:rPr lang="en-US" sz="2100">
                <a:solidFill>
                  <a:srgbClr val="000000"/>
                </a:solidFill>
                <a:latin typeface="TT Firs Neue"/>
                <a:ea typeface="TT Firs Neue"/>
                <a:cs typeface="TT Firs Neue"/>
                <a:sym typeface="TT Firs Neue"/>
              </a:rPr>
              <a:t>Sustainability – Using environment-friendly practices such as energy-efficient machines to environmentally safe detergents, bulk loads to reduce the water pollution</a:t>
            </a:r>
          </a:p>
          <a:p>
            <a:pPr algn="just" marL="453390" indent="-226695" lvl="1">
              <a:lnSpc>
                <a:spcPts val="2940"/>
              </a:lnSpc>
              <a:buFont typeface="Arial"/>
              <a:buChar char="•"/>
            </a:pPr>
            <a:r>
              <a:rPr lang="en-US" sz="2100">
                <a:solidFill>
                  <a:srgbClr val="000000"/>
                </a:solidFill>
                <a:latin typeface="TT Firs Neue"/>
                <a:ea typeface="TT Firs Neue"/>
                <a:cs typeface="TT Firs Neue"/>
                <a:sym typeface="TT Firs Neue"/>
              </a:rPr>
              <a:t>Convenience - Utilziing the Rutgers infrastructure for seamless pick up and drop off locations that are convenient for students </a:t>
            </a:r>
          </a:p>
          <a:p>
            <a:pPr algn="just" marL="453390" indent="-226695" lvl="1">
              <a:lnSpc>
                <a:spcPts val="2940"/>
              </a:lnSpc>
              <a:buFont typeface="Arial"/>
              <a:buChar char="•"/>
            </a:pPr>
            <a:r>
              <a:rPr lang="en-US" sz="2100">
                <a:solidFill>
                  <a:srgbClr val="000000"/>
                </a:solidFill>
                <a:latin typeface="TT Firs Neue"/>
                <a:ea typeface="TT Firs Neue"/>
                <a:cs typeface="TT Firs Neue"/>
                <a:sym typeface="TT Firs Neue"/>
              </a:rPr>
              <a:t>Reliability - Ensuring clean laundry from when the customer drops off their clothing and returning clean laundry ready for pick up </a:t>
            </a:r>
          </a:p>
          <a:p>
            <a:pPr algn="just" marL="453390" indent="-226695" lvl="1">
              <a:lnSpc>
                <a:spcPts val="2940"/>
              </a:lnSpc>
              <a:buFont typeface="Arial"/>
              <a:buChar char="•"/>
            </a:pPr>
            <a:r>
              <a:rPr lang="en-US" sz="2100">
                <a:solidFill>
                  <a:srgbClr val="000000"/>
                </a:solidFill>
                <a:latin typeface="TT Firs Neue"/>
                <a:ea typeface="TT Firs Neue"/>
                <a:cs typeface="TT Firs Neue"/>
                <a:sym typeface="TT Firs Neue"/>
              </a:rPr>
              <a:t>Collaboration – We will work closely with universities, student organizations, and local partners to ensure our services truly meet student needs.</a:t>
            </a:r>
          </a:p>
          <a:p>
            <a:pPr algn="just" marL="453390" indent="-226695" lvl="1">
              <a:lnSpc>
                <a:spcPts val="2940"/>
              </a:lnSpc>
              <a:buFont typeface="Arial"/>
              <a:buChar char="•"/>
            </a:pPr>
            <a:r>
              <a:rPr lang="en-US" sz="2100">
                <a:solidFill>
                  <a:srgbClr val="000000"/>
                </a:solidFill>
                <a:latin typeface="TT Firs Neue"/>
                <a:ea typeface="TT Firs Neue"/>
                <a:cs typeface="TT Firs Neue"/>
                <a:sym typeface="TT Firs Neue"/>
              </a:rPr>
              <a:t>Customer-Centric Care – Putting resources of feedback, to get direct feedback from our customers and focusing on their needs </a:t>
            </a:r>
          </a:p>
          <a:p>
            <a:pPr algn="just">
              <a:lnSpc>
                <a:spcPts val="2940"/>
              </a:lnSpc>
            </a:pPr>
            <a:r>
              <a:rPr lang="en-US" sz="2100">
                <a:solidFill>
                  <a:srgbClr val="6D6D6D"/>
                </a:solidFill>
                <a:latin typeface="TT Firs Neue"/>
                <a:ea typeface="TT Firs Neue"/>
                <a:cs typeface="TT Firs Neue"/>
                <a:sym typeface="TT Firs Neue"/>
              </a:rPr>
              <a:t> </a:t>
            </a:r>
          </a:p>
          <a:p>
            <a:pPr algn="just">
              <a:lnSpc>
                <a:spcPts val="2940"/>
              </a:lnSpc>
            </a:pPr>
            <a:r>
              <a:rPr lang="en-US" sz="2100">
                <a:solidFill>
                  <a:srgbClr val="6D6D6D"/>
                </a:solidFill>
                <a:latin typeface="TT Firs Neue"/>
                <a:ea typeface="TT Firs Neue"/>
                <a:cs typeface="TT Firs Neue"/>
                <a:sym typeface="TT Firs Neue"/>
              </a:rPr>
              <a:t> </a:t>
            </a:r>
          </a:p>
          <a:p>
            <a:pPr algn="just">
              <a:lnSpc>
                <a:spcPts val="2940"/>
              </a:lnSpc>
            </a:pPr>
          </a:p>
          <a:p>
            <a:pPr algn="just">
              <a:lnSpc>
                <a:spcPts val="2940"/>
              </a:lnSpc>
            </a:pPr>
            <a:r>
              <a:rPr lang="en-US" sz="2100">
                <a:solidFill>
                  <a:srgbClr val="6D6D6D"/>
                </a:solidFill>
                <a:latin typeface="TT Firs Neue"/>
                <a:ea typeface="TT Firs Neue"/>
                <a:cs typeface="TT Firs Neue"/>
                <a:sym typeface="TT Firs Neue"/>
              </a:rPr>
              <a:t> </a:t>
            </a:r>
          </a:p>
          <a:p>
            <a:pPr algn="just" marL="0" indent="0" lvl="0">
              <a:lnSpc>
                <a:spcPts val="2940"/>
              </a:lnSpc>
              <a:spcBef>
                <a:spcPct val="0"/>
              </a:spcBef>
            </a:pPr>
          </a:p>
        </p:txBody>
      </p:sp>
      <p:sp>
        <p:nvSpPr>
          <p:cNvPr name="TextBox 7" id="7"/>
          <p:cNvSpPr txBox="true"/>
          <p:nvPr/>
        </p:nvSpPr>
        <p:spPr>
          <a:xfrm rot="0">
            <a:off x="2163395" y="970598"/>
            <a:ext cx="1766005" cy="396240"/>
          </a:xfrm>
          <a:prstGeom prst="rect">
            <a:avLst/>
          </a:prstGeom>
        </p:spPr>
        <p:txBody>
          <a:bodyPr anchor="t" rtlCol="false" tIns="0" lIns="0" bIns="0" rIns="0">
            <a:spAutoFit/>
          </a:bodyPr>
          <a:lstStyle/>
          <a:p>
            <a:pPr algn="l" marL="0" indent="0" lvl="0">
              <a:lnSpc>
                <a:spcPts val="3359"/>
              </a:lnSpc>
              <a:spcBef>
                <a:spcPct val="0"/>
              </a:spcBef>
            </a:pPr>
            <a:r>
              <a:rPr lang="en-US" b="true" sz="2400">
                <a:solidFill>
                  <a:srgbClr val="000000"/>
                </a:solidFill>
                <a:latin typeface="Montaser Arabic Ultra-Bold"/>
                <a:ea typeface="Montaser Arabic Ultra-Bold"/>
                <a:cs typeface="Montaser Arabic Ultra-Bold"/>
                <a:sym typeface="Montaser Arabic Ultra-Bold"/>
              </a:rPr>
              <a:t>Wash</a:t>
            </a:r>
          </a:p>
        </p:txBody>
      </p:sp>
      <p:sp>
        <p:nvSpPr>
          <p:cNvPr name="TextBox 8" id="8"/>
          <p:cNvSpPr txBox="true"/>
          <p:nvPr/>
        </p:nvSpPr>
        <p:spPr>
          <a:xfrm rot="0">
            <a:off x="1028700" y="970598"/>
            <a:ext cx="1583559" cy="396240"/>
          </a:xfrm>
          <a:prstGeom prst="rect">
            <a:avLst/>
          </a:prstGeom>
        </p:spPr>
        <p:txBody>
          <a:bodyPr anchor="t" rtlCol="false" tIns="0" lIns="0" bIns="0" rIns="0">
            <a:spAutoFit/>
          </a:bodyPr>
          <a:lstStyle/>
          <a:p>
            <a:pPr algn="l" marL="0" indent="0" lvl="0">
              <a:lnSpc>
                <a:spcPts val="3359"/>
              </a:lnSpc>
              <a:spcBef>
                <a:spcPct val="0"/>
              </a:spcBef>
            </a:pPr>
            <a:r>
              <a:rPr lang="en-US" b="true" sz="2400">
                <a:solidFill>
                  <a:srgbClr val="AB2609"/>
                </a:solidFill>
                <a:latin typeface="Montaser Arabic Ultra-Bold"/>
                <a:ea typeface="Montaser Arabic Ultra-Bold"/>
                <a:cs typeface="Montaser Arabic Ultra-Bold"/>
                <a:sym typeface="Montaser Arabic Ultra-Bold"/>
              </a:rPr>
              <a:t>Scarlet</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998290" y="2268415"/>
            <a:ext cx="8414727" cy="8843732"/>
            <a:chOff x="0" y="0"/>
            <a:chExt cx="2377428" cy="2498635"/>
          </a:xfrm>
        </p:grpSpPr>
        <p:sp>
          <p:nvSpPr>
            <p:cNvPr name="Freeform 3" id="3"/>
            <p:cNvSpPr/>
            <p:nvPr/>
          </p:nvSpPr>
          <p:spPr>
            <a:xfrm flipH="false" flipV="false" rot="0">
              <a:off x="0" y="0"/>
              <a:ext cx="2377428" cy="2498635"/>
            </a:xfrm>
            <a:custGeom>
              <a:avLst/>
              <a:gdLst/>
              <a:ahLst/>
              <a:cxnLst/>
              <a:rect r="r" b="b" t="t" l="l"/>
              <a:pathLst>
                <a:path h="2498635" w="2377428">
                  <a:moveTo>
                    <a:pt x="54283" y="0"/>
                  </a:moveTo>
                  <a:lnTo>
                    <a:pt x="2323145" y="0"/>
                  </a:lnTo>
                  <a:cubicBezTo>
                    <a:pt x="2353125" y="0"/>
                    <a:pt x="2377428" y="24303"/>
                    <a:pt x="2377428" y="54283"/>
                  </a:cubicBezTo>
                  <a:lnTo>
                    <a:pt x="2377428" y="2444353"/>
                  </a:lnTo>
                  <a:cubicBezTo>
                    <a:pt x="2377428" y="2458750"/>
                    <a:pt x="2371709" y="2472556"/>
                    <a:pt x="2361529" y="2482736"/>
                  </a:cubicBezTo>
                  <a:cubicBezTo>
                    <a:pt x="2351349" y="2492916"/>
                    <a:pt x="2337542" y="2498635"/>
                    <a:pt x="2323145" y="2498635"/>
                  </a:cubicBezTo>
                  <a:lnTo>
                    <a:pt x="54283" y="2498635"/>
                  </a:lnTo>
                  <a:cubicBezTo>
                    <a:pt x="39886" y="2498635"/>
                    <a:pt x="26079" y="2492916"/>
                    <a:pt x="15899" y="2482736"/>
                  </a:cubicBezTo>
                  <a:cubicBezTo>
                    <a:pt x="5719" y="2472556"/>
                    <a:pt x="0" y="2458750"/>
                    <a:pt x="0" y="2444353"/>
                  </a:cubicBezTo>
                  <a:lnTo>
                    <a:pt x="0" y="54283"/>
                  </a:lnTo>
                  <a:cubicBezTo>
                    <a:pt x="0" y="39886"/>
                    <a:pt x="5719" y="26079"/>
                    <a:pt x="15899" y="15899"/>
                  </a:cubicBezTo>
                  <a:cubicBezTo>
                    <a:pt x="26079" y="5719"/>
                    <a:pt x="39886" y="0"/>
                    <a:pt x="54283" y="0"/>
                  </a:cubicBezTo>
                  <a:close/>
                </a:path>
              </a:pathLst>
            </a:custGeom>
            <a:solidFill>
              <a:srgbClr val="FFFFFF"/>
            </a:solidFill>
          </p:spPr>
        </p:sp>
        <p:sp>
          <p:nvSpPr>
            <p:cNvPr name="TextBox 4" id="4"/>
            <p:cNvSpPr txBox="true"/>
            <p:nvPr/>
          </p:nvSpPr>
          <p:spPr>
            <a:xfrm>
              <a:off x="0" y="-38100"/>
              <a:ext cx="2377428" cy="2536735"/>
            </a:xfrm>
            <a:prstGeom prst="rect">
              <a:avLst/>
            </a:prstGeom>
          </p:spPr>
          <p:txBody>
            <a:bodyPr anchor="ctr" rtlCol="false" tIns="47355" lIns="47355" bIns="47355" rIns="47355"/>
            <a:lstStyle/>
            <a:p>
              <a:pPr algn="ctr">
                <a:lnSpc>
                  <a:spcPts val="2940"/>
                </a:lnSpc>
              </a:pPr>
            </a:p>
          </p:txBody>
        </p:sp>
      </p:grpSp>
      <p:sp>
        <p:nvSpPr>
          <p:cNvPr name="Freeform 5" id="5"/>
          <p:cNvSpPr/>
          <p:nvPr/>
        </p:nvSpPr>
        <p:spPr>
          <a:xfrm flipH="false" flipV="false" rot="0">
            <a:off x="16643356" y="8814248"/>
            <a:ext cx="1006994" cy="1472752"/>
          </a:xfrm>
          <a:custGeom>
            <a:avLst/>
            <a:gdLst/>
            <a:ahLst/>
            <a:cxnLst/>
            <a:rect r="r" b="b" t="t" l="l"/>
            <a:pathLst>
              <a:path h="1472752" w="1006994">
                <a:moveTo>
                  <a:pt x="0" y="0"/>
                </a:moveTo>
                <a:lnTo>
                  <a:pt x="1006994" y="0"/>
                </a:lnTo>
                <a:lnTo>
                  <a:pt x="1006994" y="1472752"/>
                </a:lnTo>
                <a:lnTo>
                  <a:pt x="0" y="1472752"/>
                </a:lnTo>
                <a:lnTo>
                  <a:pt x="0" y="0"/>
                </a:lnTo>
                <a:close/>
              </a:path>
            </a:pathLst>
          </a:custGeom>
          <a:blipFill>
            <a:blip r:embed="rId2"/>
            <a:stretch>
              <a:fillRect l="0" t="0" r="0" b="0"/>
            </a:stretch>
          </a:blipFill>
        </p:spPr>
      </p:sp>
      <p:sp>
        <p:nvSpPr>
          <p:cNvPr name="TextBox 6" id="6"/>
          <p:cNvSpPr txBox="true"/>
          <p:nvPr/>
        </p:nvSpPr>
        <p:spPr>
          <a:xfrm rot="0">
            <a:off x="1028700" y="1486222"/>
            <a:ext cx="16621650" cy="754761"/>
          </a:xfrm>
          <a:prstGeom prst="rect">
            <a:avLst/>
          </a:prstGeom>
        </p:spPr>
        <p:txBody>
          <a:bodyPr anchor="t" rtlCol="false" tIns="0" lIns="0" bIns="0" rIns="0">
            <a:spAutoFit/>
          </a:bodyPr>
          <a:lstStyle/>
          <a:p>
            <a:pPr algn="l" marL="0" indent="0" lvl="0">
              <a:lnSpc>
                <a:spcPts val="6192"/>
              </a:lnSpc>
            </a:pPr>
            <a:r>
              <a:rPr lang="en-US" b="true" sz="4800">
                <a:solidFill>
                  <a:srgbClr val="AB2609"/>
                </a:solidFill>
                <a:latin typeface="Montaser Arabic Bold"/>
                <a:ea typeface="Montaser Arabic Bold"/>
                <a:cs typeface="Montaser Arabic Bold"/>
                <a:sym typeface="Montaser Arabic Bold"/>
              </a:rPr>
              <a:t>Financial and Strategic Objectives </a:t>
            </a:r>
          </a:p>
        </p:txBody>
      </p:sp>
      <p:sp>
        <p:nvSpPr>
          <p:cNvPr name="TextBox 7" id="7"/>
          <p:cNvSpPr txBox="true"/>
          <p:nvPr/>
        </p:nvSpPr>
        <p:spPr>
          <a:xfrm rot="0">
            <a:off x="1028700" y="2355283"/>
            <a:ext cx="16230600" cy="6621145"/>
          </a:xfrm>
          <a:prstGeom prst="rect">
            <a:avLst/>
          </a:prstGeom>
        </p:spPr>
        <p:txBody>
          <a:bodyPr anchor="t" rtlCol="false" tIns="0" lIns="0" bIns="0" rIns="0">
            <a:spAutoFit/>
          </a:bodyPr>
          <a:lstStyle/>
          <a:p>
            <a:pPr algn="just">
              <a:lnSpc>
                <a:spcPts val="3079"/>
              </a:lnSpc>
            </a:pPr>
          </a:p>
          <a:p>
            <a:pPr algn="just">
              <a:lnSpc>
                <a:spcPts val="3079"/>
              </a:lnSpc>
            </a:pPr>
            <a:r>
              <a:rPr lang="en-US" sz="2199" b="true">
                <a:solidFill>
                  <a:srgbClr val="000000"/>
                </a:solidFill>
                <a:latin typeface="TT Firs Neue Bold"/>
                <a:ea typeface="TT Firs Neue Bold"/>
                <a:cs typeface="TT Firs Neue Bold"/>
                <a:sym typeface="TT Firs Neue Bold"/>
              </a:rPr>
              <a:t>Financial Objectives </a:t>
            </a:r>
          </a:p>
          <a:p>
            <a:pPr algn="just" marL="474979" indent="-237490" lvl="1">
              <a:lnSpc>
                <a:spcPts val="3079"/>
              </a:lnSpc>
              <a:buAutoNum type="arabicPeriod" startAt="1"/>
            </a:pPr>
            <a:r>
              <a:rPr lang="en-US" sz="2199">
                <a:solidFill>
                  <a:srgbClr val="000000"/>
                </a:solidFill>
                <a:latin typeface="TT Firs Neue"/>
                <a:ea typeface="TT Firs Neue"/>
                <a:cs typeface="TT Firs Neue"/>
                <a:sym typeface="TT Firs Neue"/>
              </a:rPr>
              <a:t>Reach a total of 200 monthly subscribers by the end of the month, increase in another 15% annually to cover our operating costs  </a:t>
            </a:r>
          </a:p>
          <a:p>
            <a:pPr algn="just" marL="474979" indent="-237490" lvl="1">
              <a:lnSpc>
                <a:spcPts val="3079"/>
              </a:lnSpc>
              <a:buAutoNum type="arabicPeriod" startAt="1"/>
            </a:pPr>
            <a:r>
              <a:rPr lang="en-US" sz="2199">
                <a:solidFill>
                  <a:srgbClr val="000000"/>
                </a:solidFill>
                <a:latin typeface="TT Firs Neue"/>
                <a:ea typeface="TT Firs Neue"/>
                <a:cs typeface="TT Firs Neue"/>
                <a:sym typeface="TT Firs Neue"/>
              </a:rPr>
              <a:t>Increase to</a:t>
            </a:r>
            <a:r>
              <a:rPr lang="en-US" sz="2199">
                <a:solidFill>
                  <a:srgbClr val="000000"/>
                </a:solidFill>
                <a:latin typeface="TT Firs Neue"/>
                <a:ea typeface="TT Firs Neue"/>
                <a:cs typeface="TT Firs Neue"/>
                <a:sym typeface="TT Firs Neue"/>
              </a:rPr>
              <a:t> $250,000 in net income with partner universities within the first three years of operation, funded through</a:t>
            </a:r>
            <a:r>
              <a:rPr lang="en-US" sz="2199">
                <a:solidFill>
                  <a:srgbClr val="000000"/>
                </a:solidFill>
                <a:latin typeface="TT Firs Neue"/>
                <a:ea typeface="TT Firs Neue"/>
                <a:cs typeface="TT Firs Neue"/>
                <a:sym typeface="TT Firs Neue"/>
              </a:rPr>
              <a:t> memberships, single-use services, and institutional partnerships</a:t>
            </a:r>
          </a:p>
          <a:p>
            <a:pPr algn="just" marL="474979" indent="-237490" lvl="1">
              <a:lnSpc>
                <a:spcPts val="3079"/>
              </a:lnSpc>
              <a:buAutoNum type="arabicPeriod" startAt="1"/>
            </a:pPr>
            <a:r>
              <a:rPr lang="en-US" sz="2199">
                <a:solidFill>
                  <a:srgbClr val="000000"/>
                </a:solidFill>
                <a:latin typeface="TT Firs Neue"/>
                <a:ea typeface="TT Firs Neue"/>
                <a:cs typeface="TT Firs Neue"/>
                <a:sym typeface="TT Firs Neue"/>
              </a:rPr>
              <a:t>Maintain a minimum 15% surplus by year 3 by streamlining laundry operations, negotiating supplier contracts, and reducing overall water waste ensuring consistent contributions back to the university community.</a:t>
            </a:r>
          </a:p>
          <a:p>
            <a:pPr algn="just">
              <a:lnSpc>
                <a:spcPts val="3079"/>
              </a:lnSpc>
            </a:pPr>
          </a:p>
          <a:p>
            <a:pPr algn="just">
              <a:lnSpc>
                <a:spcPts val="3079"/>
              </a:lnSpc>
            </a:pPr>
            <a:r>
              <a:rPr lang="en-US" sz="2199" b="true">
                <a:solidFill>
                  <a:srgbClr val="000000"/>
                </a:solidFill>
                <a:latin typeface="TT Firs Neue Bold"/>
                <a:ea typeface="TT Firs Neue Bold"/>
                <a:cs typeface="TT Firs Neue Bold"/>
                <a:sym typeface="TT Firs Neue Bold"/>
              </a:rPr>
              <a:t>Strategic Objectives </a:t>
            </a:r>
          </a:p>
          <a:p>
            <a:pPr algn="just" marL="474979" indent="-237490" lvl="1">
              <a:lnSpc>
                <a:spcPts val="3079"/>
              </a:lnSpc>
              <a:buAutoNum type="arabicPeriod" startAt="1"/>
            </a:pPr>
            <a:r>
              <a:rPr lang="en-US" sz="2199">
                <a:solidFill>
                  <a:srgbClr val="000000"/>
                </a:solidFill>
                <a:latin typeface="TT Firs Neue"/>
                <a:ea typeface="TT Firs Neue"/>
                <a:cs typeface="TT Firs Neue"/>
                <a:sym typeface="TT Firs Neue"/>
              </a:rPr>
              <a:t>Increase in new student sign ups by 15% by the end of the upcoming semester </a:t>
            </a:r>
          </a:p>
          <a:p>
            <a:pPr algn="just" marL="474979" indent="-237490" lvl="1">
              <a:lnSpc>
                <a:spcPts val="3079"/>
              </a:lnSpc>
              <a:buAutoNum type="arabicPeriod" startAt="1"/>
            </a:pPr>
            <a:r>
              <a:rPr lang="en-US" sz="2199">
                <a:solidFill>
                  <a:srgbClr val="000000"/>
                </a:solidFill>
                <a:latin typeface="TT Firs Neue"/>
                <a:ea typeface="TT Firs Neue"/>
                <a:cs typeface="TT Firs Neue"/>
                <a:sym typeface="TT Firs Neue"/>
              </a:rPr>
              <a:t>Maintain at least a 70% returning-customer retention rate by the end of the semester, and each semester preceding. Offering loyalty rewards, quality guarantees, and responsive customer service.</a:t>
            </a:r>
          </a:p>
          <a:p>
            <a:pPr algn="just" marL="474979" indent="-237490" lvl="1">
              <a:lnSpc>
                <a:spcPts val="3079"/>
              </a:lnSpc>
              <a:buAutoNum type="arabicPeriod" startAt="1"/>
            </a:pPr>
            <a:r>
              <a:rPr lang="en-US" sz="2199">
                <a:solidFill>
                  <a:srgbClr val="000000"/>
                </a:solidFill>
                <a:latin typeface="TT Firs Neue"/>
                <a:ea typeface="TT Firs Neue"/>
                <a:cs typeface="TT Firs Neue"/>
                <a:sym typeface="TT Firs Neue"/>
              </a:rPr>
              <a:t>Establish three permanent laundry drop-off/pick-up locations on campus within 18 months.</a:t>
            </a:r>
          </a:p>
          <a:p>
            <a:pPr algn="just" marL="474979" indent="-237490" lvl="1">
              <a:lnSpc>
                <a:spcPts val="3079"/>
              </a:lnSpc>
              <a:buAutoNum type="arabicPeriod" startAt="1"/>
            </a:pPr>
            <a:r>
              <a:rPr lang="en-US" sz="2199">
                <a:solidFill>
                  <a:srgbClr val="000000"/>
                </a:solidFill>
                <a:latin typeface="TT Firs Neue"/>
                <a:ea typeface="TT Firs Neue"/>
                <a:cs typeface="TT Firs Neue"/>
                <a:sym typeface="TT Firs Neue"/>
              </a:rPr>
              <a:t>Increase managed successful operations in 2 new universities by the next 2 years.</a:t>
            </a:r>
          </a:p>
          <a:p>
            <a:pPr algn="just">
              <a:lnSpc>
                <a:spcPts val="3079"/>
              </a:lnSpc>
            </a:pPr>
          </a:p>
          <a:p>
            <a:pPr algn="just" marL="0" indent="0" lvl="0">
              <a:lnSpc>
                <a:spcPts val="3079"/>
              </a:lnSpc>
              <a:spcBef>
                <a:spcPct val="0"/>
              </a:spcBef>
            </a:pPr>
          </a:p>
        </p:txBody>
      </p:sp>
      <p:sp>
        <p:nvSpPr>
          <p:cNvPr name="TextBox 8" id="8"/>
          <p:cNvSpPr txBox="true"/>
          <p:nvPr/>
        </p:nvSpPr>
        <p:spPr>
          <a:xfrm rot="0">
            <a:off x="2163395" y="970598"/>
            <a:ext cx="1766005" cy="396240"/>
          </a:xfrm>
          <a:prstGeom prst="rect">
            <a:avLst/>
          </a:prstGeom>
        </p:spPr>
        <p:txBody>
          <a:bodyPr anchor="t" rtlCol="false" tIns="0" lIns="0" bIns="0" rIns="0">
            <a:spAutoFit/>
          </a:bodyPr>
          <a:lstStyle/>
          <a:p>
            <a:pPr algn="l" marL="0" indent="0" lvl="0">
              <a:lnSpc>
                <a:spcPts val="3359"/>
              </a:lnSpc>
              <a:spcBef>
                <a:spcPct val="0"/>
              </a:spcBef>
            </a:pPr>
            <a:r>
              <a:rPr lang="en-US" b="true" sz="2400">
                <a:solidFill>
                  <a:srgbClr val="000000"/>
                </a:solidFill>
                <a:latin typeface="Montaser Arabic Ultra-Bold"/>
                <a:ea typeface="Montaser Arabic Ultra-Bold"/>
                <a:cs typeface="Montaser Arabic Ultra-Bold"/>
                <a:sym typeface="Montaser Arabic Ultra-Bold"/>
              </a:rPr>
              <a:t>Wash</a:t>
            </a:r>
          </a:p>
        </p:txBody>
      </p:sp>
      <p:sp>
        <p:nvSpPr>
          <p:cNvPr name="TextBox 9" id="9"/>
          <p:cNvSpPr txBox="true"/>
          <p:nvPr/>
        </p:nvSpPr>
        <p:spPr>
          <a:xfrm rot="0">
            <a:off x="1028700" y="970598"/>
            <a:ext cx="1583559" cy="396240"/>
          </a:xfrm>
          <a:prstGeom prst="rect">
            <a:avLst/>
          </a:prstGeom>
        </p:spPr>
        <p:txBody>
          <a:bodyPr anchor="t" rtlCol="false" tIns="0" lIns="0" bIns="0" rIns="0">
            <a:spAutoFit/>
          </a:bodyPr>
          <a:lstStyle/>
          <a:p>
            <a:pPr algn="l" marL="0" indent="0" lvl="0">
              <a:lnSpc>
                <a:spcPts val="3359"/>
              </a:lnSpc>
              <a:spcBef>
                <a:spcPct val="0"/>
              </a:spcBef>
            </a:pPr>
            <a:r>
              <a:rPr lang="en-US" b="true" sz="2400">
                <a:solidFill>
                  <a:srgbClr val="AB2609"/>
                </a:solidFill>
                <a:latin typeface="Montaser Arabic Ultra-Bold"/>
                <a:ea typeface="Montaser Arabic Ultra-Bold"/>
                <a:cs typeface="Montaser Arabic Ultra-Bold"/>
                <a:sym typeface="Montaser Arabic Ultra-Bold"/>
              </a:rPr>
              <a:t>Scarlet</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028700" y="3258820"/>
            <a:ext cx="12155876" cy="5999480"/>
          </a:xfrm>
          <a:prstGeom prst="rect">
            <a:avLst/>
          </a:prstGeom>
        </p:spPr>
        <p:txBody>
          <a:bodyPr anchor="t" rtlCol="false" tIns="0" lIns="0" bIns="0" rIns="0">
            <a:spAutoFit/>
          </a:bodyPr>
          <a:lstStyle/>
          <a:p>
            <a:pPr algn="just">
              <a:lnSpc>
                <a:spcPts val="3219"/>
              </a:lnSpc>
            </a:pPr>
            <a:r>
              <a:rPr lang="en-US" sz="2299">
                <a:solidFill>
                  <a:srgbClr val="000000"/>
                </a:solidFill>
                <a:latin typeface="TT Firs Neue"/>
                <a:ea typeface="TT Firs Neue"/>
                <a:cs typeface="TT Firs Neue"/>
                <a:sym typeface="TT Firs Neue"/>
              </a:rPr>
              <a:t>Scarlet Wash will adopt a proactive CSR culture</a:t>
            </a:r>
          </a:p>
          <a:p>
            <a:pPr algn="just">
              <a:lnSpc>
                <a:spcPts val="3219"/>
              </a:lnSpc>
            </a:pPr>
            <a:r>
              <a:rPr lang="en-US" sz="2299">
                <a:solidFill>
                  <a:srgbClr val="000000"/>
                </a:solidFill>
                <a:latin typeface="TT Firs Neue"/>
                <a:ea typeface="TT Firs Neue"/>
                <a:cs typeface="TT Firs Neue"/>
                <a:sym typeface="TT Firs Neue"/>
              </a:rPr>
              <a:t> </a:t>
            </a:r>
          </a:p>
          <a:p>
            <a:pPr algn="just">
              <a:lnSpc>
                <a:spcPts val="3219"/>
              </a:lnSpc>
            </a:pPr>
            <a:r>
              <a:rPr lang="en-US" sz="2299">
                <a:solidFill>
                  <a:srgbClr val="000000"/>
                </a:solidFill>
                <a:latin typeface="TT Firs Neue"/>
                <a:ea typeface="TT Firs Neue"/>
                <a:cs typeface="TT Firs Neue"/>
                <a:sym typeface="TT Firs Neue"/>
              </a:rPr>
              <a:t>Rationale for team’s decision - Builds trust and goodwill with students, faculty, and community </a:t>
            </a:r>
          </a:p>
          <a:p>
            <a:pPr algn="just">
              <a:lnSpc>
                <a:spcPts val="3219"/>
              </a:lnSpc>
            </a:pPr>
          </a:p>
          <a:p>
            <a:pPr algn="just" marL="496569" indent="-248284" lvl="1">
              <a:lnSpc>
                <a:spcPts val="3219"/>
              </a:lnSpc>
              <a:buFont typeface="Arial"/>
              <a:buChar char="•"/>
            </a:pPr>
            <a:r>
              <a:rPr lang="en-US" sz="2299">
                <a:solidFill>
                  <a:srgbClr val="000000"/>
                </a:solidFill>
                <a:latin typeface="TT Firs Neue"/>
                <a:ea typeface="TT Firs Neue"/>
                <a:cs typeface="TT Firs Neue"/>
                <a:sym typeface="TT Firs Neue"/>
              </a:rPr>
              <a:t>Differentiates Scarlet Wash from competitors. </a:t>
            </a:r>
          </a:p>
          <a:p>
            <a:pPr algn="just" marL="496569" indent="-248284" lvl="1">
              <a:lnSpc>
                <a:spcPts val="3219"/>
              </a:lnSpc>
              <a:buFont typeface="Arial"/>
              <a:buChar char="•"/>
            </a:pPr>
            <a:r>
              <a:rPr lang="en-US" sz="2299">
                <a:solidFill>
                  <a:srgbClr val="000000"/>
                </a:solidFill>
                <a:latin typeface="TT Firs Neue"/>
                <a:ea typeface="TT Firs Neue"/>
                <a:cs typeface="TT Firs Neue"/>
                <a:sym typeface="TT Firs Neue"/>
              </a:rPr>
              <a:t>Reduces negative publicity, enhances brand loyalty </a:t>
            </a:r>
          </a:p>
          <a:p>
            <a:pPr algn="just" marL="496569" indent="-248284" lvl="1">
              <a:lnSpc>
                <a:spcPts val="3219"/>
              </a:lnSpc>
              <a:buFont typeface="Arial"/>
              <a:buChar char="•"/>
            </a:pPr>
            <a:r>
              <a:rPr lang="en-US" sz="2299">
                <a:solidFill>
                  <a:srgbClr val="000000"/>
                </a:solidFill>
                <a:latin typeface="TT Firs Neue"/>
                <a:ea typeface="TT Firs Neue"/>
                <a:cs typeface="TT Firs Neue"/>
                <a:sym typeface="TT Firs Neue"/>
              </a:rPr>
              <a:t>Encourages sustainable practices and long-term cost savings </a:t>
            </a:r>
          </a:p>
          <a:p>
            <a:pPr algn="just" marL="496569" indent="-248284" lvl="1">
              <a:lnSpc>
                <a:spcPts val="3219"/>
              </a:lnSpc>
              <a:buFont typeface="Arial"/>
              <a:buChar char="•"/>
            </a:pPr>
            <a:r>
              <a:rPr lang="en-US" sz="2299">
                <a:solidFill>
                  <a:srgbClr val="000000"/>
                </a:solidFill>
                <a:latin typeface="TT Firs Neue"/>
                <a:ea typeface="TT Firs Neue"/>
                <a:cs typeface="TT Firs Neue"/>
                <a:sym typeface="TT Firs Neue"/>
              </a:rPr>
              <a:t>Emphasize our goal to benefit the health and well being of students </a:t>
            </a:r>
          </a:p>
          <a:p>
            <a:pPr algn="just">
              <a:lnSpc>
                <a:spcPts val="3219"/>
              </a:lnSpc>
            </a:pPr>
          </a:p>
          <a:p>
            <a:pPr algn="just">
              <a:lnSpc>
                <a:spcPts val="3219"/>
              </a:lnSpc>
            </a:pPr>
            <a:r>
              <a:rPr lang="en-US" sz="2299">
                <a:solidFill>
                  <a:srgbClr val="000000"/>
                </a:solidFill>
                <a:latin typeface="TT Firs Neue"/>
                <a:ea typeface="TT Firs Neue"/>
                <a:cs typeface="TT Firs Neue"/>
                <a:sym typeface="TT Firs Neue"/>
              </a:rPr>
              <a:t> R</a:t>
            </a:r>
            <a:r>
              <a:rPr lang="en-US" sz="2299">
                <a:solidFill>
                  <a:srgbClr val="000000"/>
                </a:solidFill>
                <a:latin typeface="TT Firs Neue"/>
                <a:ea typeface="TT Firs Neue"/>
                <a:cs typeface="TT Firs Neue"/>
                <a:sym typeface="TT Firs Neue"/>
              </a:rPr>
              <a:t>eputation and student trust are a central priority for Scarlet Wash. As a campus service, aligning with student values (convenience, sustainability, fairness) will directly strengthen loyalty. </a:t>
            </a:r>
          </a:p>
          <a:p>
            <a:pPr algn="just">
              <a:lnSpc>
                <a:spcPts val="3219"/>
              </a:lnSpc>
            </a:pPr>
          </a:p>
          <a:p>
            <a:pPr algn="just">
              <a:lnSpc>
                <a:spcPts val="3219"/>
              </a:lnSpc>
              <a:spcBef>
                <a:spcPct val="0"/>
              </a:spcBef>
            </a:pPr>
          </a:p>
        </p:txBody>
      </p:sp>
      <p:sp>
        <p:nvSpPr>
          <p:cNvPr name="Freeform 3" id="3"/>
          <p:cNvSpPr/>
          <p:nvPr/>
        </p:nvSpPr>
        <p:spPr>
          <a:xfrm flipH="false" flipV="false" rot="0">
            <a:off x="14596629" y="4684498"/>
            <a:ext cx="2235609" cy="2781867"/>
          </a:xfrm>
          <a:custGeom>
            <a:avLst/>
            <a:gdLst/>
            <a:ahLst/>
            <a:cxnLst/>
            <a:rect r="r" b="b" t="t" l="l"/>
            <a:pathLst>
              <a:path h="2781867" w="2235609">
                <a:moveTo>
                  <a:pt x="0" y="0"/>
                </a:moveTo>
                <a:lnTo>
                  <a:pt x="2235609" y="0"/>
                </a:lnTo>
                <a:lnTo>
                  <a:pt x="2235609" y="2781866"/>
                </a:lnTo>
                <a:lnTo>
                  <a:pt x="0" y="27818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1028700" y="1486222"/>
            <a:ext cx="16621650" cy="1535811"/>
          </a:xfrm>
          <a:prstGeom prst="rect">
            <a:avLst/>
          </a:prstGeom>
        </p:spPr>
        <p:txBody>
          <a:bodyPr anchor="t" rtlCol="false" tIns="0" lIns="0" bIns="0" rIns="0">
            <a:spAutoFit/>
          </a:bodyPr>
          <a:lstStyle/>
          <a:p>
            <a:pPr algn="l" marL="0" indent="0" lvl="0">
              <a:lnSpc>
                <a:spcPts val="6192"/>
              </a:lnSpc>
            </a:pPr>
            <a:r>
              <a:rPr lang="en-US" b="true" sz="4800">
                <a:solidFill>
                  <a:srgbClr val="AB2609"/>
                </a:solidFill>
                <a:latin typeface="Montaser Arabic Bold"/>
                <a:ea typeface="Montaser Arabic Bold"/>
                <a:cs typeface="Montaser Arabic Bold"/>
                <a:sym typeface="Montaser Arabic Bold"/>
              </a:rPr>
              <a:t>Corporate Social Responsibility Key Initiatives and Rationale </a:t>
            </a:r>
          </a:p>
        </p:txBody>
      </p:sp>
      <p:sp>
        <p:nvSpPr>
          <p:cNvPr name="TextBox 5" id="5"/>
          <p:cNvSpPr txBox="true"/>
          <p:nvPr/>
        </p:nvSpPr>
        <p:spPr>
          <a:xfrm rot="0">
            <a:off x="2163395" y="970598"/>
            <a:ext cx="1766005" cy="396240"/>
          </a:xfrm>
          <a:prstGeom prst="rect">
            <a:avLst/>
          </a:prstGeom>
        </p:spPr>
        <p:txBody>
          <a:bodyPr anchor="t" rtlCol="false" tIns="0" lIns="0" bIns="0" rIns="0">
            <a:spAutoFit/>
          </a:bodyPr>
          <a:lstStyle/>
          <a:p>
            <a:pPr algn="l" marL="0" indent="0" lvl="0">
              <a:lnSpc>
                <a:spcPts val="3359"/>
              </a:lnSpc>
              <a:spcBef>
                <a:spcPct val="0"/>
              </a:spcBef>
            </a:pPr>
            <a:r>
              <a:rPr lang="en-US" b="true" sz="2400">
                <a:solidFill>
                  <a:srgbClr val="000000"/>
                </a:solidFill>
                <a:latin typeface="Montaser Arabic Ultra-Bold"/>
                <a:ea typeface="Montaser Arabic Ultra-Bold"/>
                <a:cs typeface="Montaser Arabic Ultra-Bold"/>
                <a:sym typeface="Montaser Arabic Ultra-Bold"/>
              </a:rPr>
              <a:t>Wash</a:t>
            </a:r>
          </a:p>
        </p:txBody>
      </p:sp>
      <p:sp>
        <p:nvSpPr>
          <p:cNvPr name="TextBox 6" id="6"/>
          <p:cNvSpPr txBox="true"/>
          <p:nvPr/>
        </p:nvSpPr>
        <p:spPr>
          <a:xfrm rot="0">
            <a:off x="1028700" y="970598"/>
            <a:ext cx="1583559" cy="396240"/>
          </a:xfrm>
          <a:prstGeom prst="rect">
            <a:avLst/>
          </a:prstGeom>
        </p:spPr>
        <p:txBody>
          <a:bodyPr anchor="t" rtlCol="false" tIns="0" lIns="0" bIns="0" rIns="0">
            <a:spAutoFit/>
          </a:bodyPr>
          <a:lstStyle/>
          <a:p>
            <a:pPr algn="l" marL="0" indent="0" lvl="0">
              <a:lnSpc>
                <a:spcPts val="3359"/>
              </a:lnSpc>
              <a:spcBef>
                <a:spcPct val="0"/>
              </a:spcBef>
            </a:pPr>
            <a:r>
              <a:rPr lang="en-US" b="true" sz="2400">
                <a:solidFill>
                  <a:srgbClr val="AB2609"/>
                </a:solidFill>
                <a:latin typeface="Montaser Arabic Ultra-Bold"/>
                <a:ea typeface="Montaser Arabic Ultra-Bold"/>
                <a:cs typeface="Montaser Arabic Ultra-Bold"/>
                <a:sym typeface="Montaser Arabic Ultra-Bold"/>
              </a:rPr>
              <a:t>Scarlet</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998290" y="2268415"/>
            <a:ext cx="8414727" cy="8843732"/>
            <a:chOff x="0" y="0"/>
            <a:chExt cx="2377428" cy="2498635"/>
          </a:xfrm>
        </p:grpSpPr>
        <p:sp>
          <p:nvSpPr>
            <p:cNvPr name="Freeform 3" id="3"/>
            <p:cNvSpPr/>
            <p:nvPr/>
          </p:nvSpPr>
          <p:spPr>
            <a:xfrm flipH="false" flipV="false" rot="0">
              <a:off x="0" y="0"/>
              <a:ext cx="2377428" cy="2498635"/>
            </a:xfrm>
            <a:custGeom>
              <a:avLst/>
              <a:gdLst/>
              <a:ahLst/>
              <a:cxnLst/>
              <a:rect r="r" b="b" t="t" l="l"/>
              <a:pathLst>
                <a:path h="2498635" w="2377428">
                  <a:moveTo>
                    <a:pt x="54283" y="0"/>
                  </a:moveTo>
                  <a:lnTo>
                    <a:pt x="2323145" y="0"/>
                  </a:lnTo>
                  <a:cubicBezTo>
                    <a:pt x="2353125" y="0"/>
                    <a:pt x="2377428" y="24303"/>
                    <a:pt x="2377428" y="54283"/>
                  </a:cubicBezTo>
                  <a:lnTo>
                    <a:pt x="2377428" y="2444353"/>
                  </a:lnTo>
                  <a:cubicBezTo>
                    <a:pt x="2377428" y="2458750"/>
                    <a:pt x="2371709" y="2472556"/>
                    <a:pt x="2361529" y="2482736"/>
                  </a:cubicBezTo>
                  <a:cubicBezTo>
                    <a:pt x="2351349" y="2492916"/>
                    <a:pt x="2337542" y="2498635"/>
                    <a:pt x="2323145" y="2498635"/>
                  </a:cubicBezTo>
                  <a:lnTo>
                    <a:pt x="54283" y="2498635"/>
                  </a:lnTo>
                  <a:cubicBezTo>
                    <a:pt x="39886" y="2498635"/>
                    <a:pt x="26079" y="2492916"/>
                    <a:pt x="15899" y="2482736"/>
                  </a:cubicBezTo>
                  <a:cubicBezTo>
                    <a:pt x="5719" y="2472556"/>
                    <a:pt x="0" y="2458750"/>
                    <a:pt x="0" y="2444353"/>
                  </a:cubicBezTo>
                  <a:lnTo>
                    <a:pt x="0" y="54283"/>
                  </a:lnTo>
                  <a:cubicBezTo>
                    <a:pt x="0" y="39886"/>
                    <a:pt x="5719" y="26079"/>
                    <a:pt x="15899" y="15899"/>
                  </a:cubicBezTo>
                  <a:cubicBezTo>
                    <a:pt x="26079" y="5719"/>
                    <a:pt x="39886" y="0"/>
                    <a:pt x="54283" y="0"/>
                  </a:cubicBezTo>
                  <a:close/>
                </a:path>
              </a:pathLst>
            </a:custGeom>
            <a:solidFill>
              <a:srgbClr val="FFFFFF"/>
            </a:solidFill>
          </p:spPr>
        </p:sp>
        <p:sp>
          <p:nvSpPr>
            <p:cNvPr name="TextBox 4" id="4"/>
            <p:cNvSpPr txBox="true"/>
            <p:nvPr/>
          </p:nvSpPr>
          <p:spPr>
            <a:xfrm>
              <a:off x="0" y="-38100"/>
              <a:ext cx="2377428" cy="2536735"/>
            </a:xfrm>
            <a:prstGeom prst="rect">
              <a:avLst/>
            </a:prstGeom>
          </p:spPr>
          <p:txBody>
            <a:bodyPr anchor="ctr" rtlCol="false" tIns="47355" lIns="47355" bIns="47355" rIns="47355"/>
            <a:lstStyle/>
            <a:p>
              <a:pPr algn="ctr">
                <a:lnSpc>
                  <a:spcPts val="2940"/>
                </a:lnSpc>
              </a:pPr>
            </a:p>
          </p:txBody>
        </p:sp>
      </p:grpSp>
      <p:sp>
        <p:nvSpPr>
          <p:cNvPr name="TextBox 5" id="5"/>
          <p:cNvSpPr txBox="true"/>
          <p:nvPr/>
        </p:nvSpPr>
        <p:spPr>
          <a:xfrm rot="0">
            <a:off x="1028700" y="1486222"/>
            <a:ext cx="16621650" cy="3097911"/>
          </a:xfrm>
          <a:prstGeom prst="rect">
            <a:avLst/>
          </a:prstGeom>
        </p:spPr>
        <p:txBody>
          <a:bodyPr anchor="t" rtlCol="false" tIns="0" lIns="0" bIns="0" rIns="0">
            <a:spAutoFit/>
          </a:bodyPr>
          <a:lstStyle/>
          <a:p>
            <a:pPr algn="l">
              <a:lnSpc>
                <a:spcPts val="6192"/>
              </a:lnSpc>
            </a:pPr>
            <a:r>
              <a:rPr lang="en-US" sz="4800" b="true">
                <a:solidFill>
                  <a:srgbClr val="AB2609"/>
                </a:solidFill>
                <a:latin typeface="Montaser Arabic Ultra-Bold"/>
                <a:ea typeface="Montaser Arabic Ultra-Bold"/>
                <a:cs typeface="Montaser Arabic Ultra-Bold"/>
                <a:sym typeface="Montaser Arabic Ultra-Bold"/>
              </a:rPr>
              <a:t>Description of New Product/Service selected by the team</a:t>
            </a:r>
          </a:p>
          <a:p>
            <a:pPr algn="l">
              <a:lnSpc>
                <a:spcPts val="6192"/>
              </a:lnSpc>
            </a:pPr>
          </a:p>
          <a:p>
            <a:pPr algn="l" marL="0" indent="0" lvl="0">
              <a:lnSpc>
                <a:spcPts val="6192"/>
              </a:lnSpc>
            </a:pPr>
          </a:p>
        </p:txBody>
      </p:sp>
      <p:sp>
        <p:nvSpPr>
          <p:cNvPr name="TextBox 6" id="6"/>
          <p:cNvSpPr txBox="true"/>
          <p:nvPr/>
        </p:nvSpPr>
        <p:spPr>
          <a:xfrm rot="0">
            <a:off x="1028700" y="3516347"/>
            <a:ext cx="16230600" cy="6692265"/>
          </a:xfrm>
          <a:prstGeom prst="rect">
            <a:avLst/>
          </a:prstGeom>
        </p:spPr>
        <p:txBody>
          <a:bodyPr anchor="t" rtlCol="false" tIns="0" lIns="0" bIns="0" rIns="0">
            <a:spAutoFit/>
          </a:bodyPr>
          <a:lstStyle/>
          <a:p>
            <a:pPr algn="just">
              <a:lnSpc>
                <a:spcPts val="3359"/>
              </a:lnSpc>
            </a:pPr>
            <a:r>
              <a:rPr lang="en-US" sz="2399" b="true">
                <a:solidFill>
                  <a:srgbClr val="000000"/>
                </a:solidFill>
                <a:latin typeface="TT Firs Neue Bold"/>
                <a:ea typeface="TT Firs Neue Bold"/>
                <a:cs typeface="TT Firs Neue Bold"/>
                <a:sym typeface="TT Firs Neue Bold"/>
              </a:rPr>
              <a:t>1. Express Same-Day Rush Service </a:t>
            </a:r>
          </a:p>
          <a:p>
            <a:pPr algn="just" marL="518158" indent="-259079" lvl="1">
              <a:lnSpc>
                <a:spcPts val="3359"/>
              </a:lnSpc>
              <a:buFont typeface="Arial"/>
              <a:buChar char="•"/>
            </a:pPr>
            <a:r>
              <a:rPr lang="en-US" sz="2399">
                <a:solidFill>
                  <a:srgbClr val="000000"/>
                </a:solidFill>
                <a:latin typeface="TT Firs Neue"/>
                <a:ea typeface="TT Firs Neue"/>
                <a:cs typeface="TT Firs Neue"/>
                <a:sym typeface="TT Firs Neue"/>
              </a:rPr>
              <a:t>Premium fee for guaranteed same-day turnaround on bags dropped by a morning cutoff </a:t>
            </a:r>
          </a:p>
          <a:p>
            <a:pPr algn="just" marL="518158" indent="-259079" lvl="1">
              <a:lnSpc>
                <a:spcPts val="3359"/>
              </a:lnSpc>
              <a:buFont typeface="Arial"/>
              <a:buChar char="•"/>
            </a:pPr>
            <a:r>
              <a:rPr lang="en-US" sz="2399">
                <a:solidFill>
                  <a:srgbClr val="000000"/>
                </a:solidFill>
                <a:latin typeface="TT Firs Neue"/>
                <a:ea typeface="TT Firs Neue"/>
                <a:cs typeface="TT Firs Neue"/>
                <a:sym typeface="TT Firs Neue"/>
              </a:rPr>
              <a:t>Limited daily capacity to preserve quality and justify pricing </a:t>
            </a:r>
          </a:p>
          <a:p>
            <a:pPr algn="just" marL="518158" indent="-259079" lvl="1">
              <a:lnSpc>
                <a:spcPts val="3359"/>
              </a:lnSpc>
              <a:buFont typeface="Arial"/>
              <a:buChar char="•"/>
            </a:pPr>
            <a:r>
              <a:rPr lang="en-US" sz="2399">
                <a:solidFill>
                  <a:srgbClr val="000000"/>
                </a:solidFill>
                <a:latin typeface="TT Firs Neue"/>
                <a:ea typeface="TT Firs Neue"/>
                <a:cs typeface="TT Firs Neue"/>
                <a:sym typeface="TT Firs Neue"/>
              </a:rPr>
              <a:t>Ideal for athletes, performers, interviews, and lab classes</a:t>
            </a:r>
          </a:p>
          <a:p>
            <a:pPr algn="just">
              <a:lnSpc>
                <a:spcPts val="3359"/>
              </a:lnSpc>
            </a:pPr>
          </a:p>
          <a:p>
            <a:pPr algn="just">
              <a:lnSpc>
                <a:spcPts val="3359"/>
              </a:lnSpc>
            </a:pPr>
            <a:r>
              <a:rPr lang="en-US" sz="2399" b="true">
                <a:solidFill>
                  <a:srgbClr val="000000"/>
                </a:solidFill>
                <a:latin typeface="TT Firs Neue Bold"/>
                <a:ea typeface="TT Firs Neue Bold"/>
                <a:cs typeface="TT Firs Neue Bold"/>
                <a:sym typeface="TT Firs Neue Bold"/>
              </a:rPr>
              <a:t>2. Stain Care and Minor Repair Add-On </a:t>
            </a:r>
          </a:p>
          <a:p>
            <a:pPr algn="just" marL="518158" indent="-259079" lvl="1">
              <a:lnSpc>
                <a:spcPts val="3359"/>
              </a:lnSpc>
              <a:buFont typeface="Arial"/>
              <a:buChar char="•"/>
            </a:pPr>
            <a:r>
              <a:rPr lang="en-US" sz="2399">
                <a:solidFill>
                  <a:srgbClr val="000000"/>
                </a:solidFill>
                <a:latin typeface="TT Firs Neue"/>
                <a:ea typeface="TT Firs Neue"/>
                <a:cs typeface="TT Firs Neue"/>
                <a:sym typeface="TT Firs Neue"/>
              </a:rPr>
              <a:t>Per-item pricing for stain treatment, rewash, loose button sewing, small seam fixes </a:t>
            </a:r>
          </a:p>
          <a:p>
            <a:pPr algn="just" marL="518158" indent="-259079" lvl="1">
              <a:lnSpc>
                <a:spcPts val="3359"/>
              </a:lnSpc>
              <a:buFont typeface="Arial"/>
              <a:buChar char="•"/>
            </a:pPr>
            <a:r>
              <a:rPr lang="en-US" sz="2399">
                <a:solidFill>
                  <a:srgbClr val="000000"/>
                </a:solidFill>
                <a:latin typeface="TT Firs Neue"/>
                <a:ea typeface="TT Firs Neue"/>
                <a:cs typeface="TT Firs Neue"/>
                <a:sym typeface="TT Firs Neue"/>
              </a:rPr>
              <a:t>Increases average order value without slowing core operations </a:t>
            </a:r>
          </a:p>
          <a:p>
            <a:pPr algn="just" marL="518158" indent="-259079" lvl="1">
              <a:lnSpc>
                <a:spcPts val="3359"/>
              </a:lnSpc>
              <a:buFont typeface="Arial"/>
              <a:buChar char="•"/>
            </a:pPr>
            <a:r>
              <a:rPr lang="en-US" sz="2399">
                <a:solidFill>
                  <a:srgbClr val="000000"/>
                </a:solidFill>
                <a:latin typeface="TT Firs Neue"/>
                <a:ea typeface="TT Firs Neue"/>
                <a:cs typeface="TT Firs Neue"/>
                <a:sym typeface="TT Firs Neue"/>
              </a:rPr>
              <a:t>Clear menu and photo-based proof of work for trust and transparency</a:t>
            </a:r>
          </a:p>
          <a:p>
            <a:pPr algn="just">
              <a:lnSpc>
                <a:spcPts val="3359"/>
              </a:lnSpc>
            </a:pPr>
          </a:p>
          <a:p>
            <a:pPr algn="just">
              <a:lnSpc>
                <a:spcPts val="3359"/>
              </a:lnSpc>
            </a:pPr>
            <a:r>
              <a:rPr lang="en-US" sz="2399" b="true">
                <a:solidFill>
                  <a:srgbClr val="000000"/>
                </a:solidFill>
                <a:latin typeface="TT Firs Neue Bold"/>
                <a:ea typeface="TT Firs Neue Bold"/>
                <a:cs typeface="TT Firs Neue Bold"/>
                <a:sym typeface="TT Firs Neue Bold"/>
              </a:rPr>
              <a:t>3. Seasonal Clean-and-Store Service </a:t>
            </a:r>
          </a:p>
          <a:p>
            <a:pPr algn="just" marL="518158" indent="-259079" lvl="1">
              <a:lnSpc>
                <a:spcPts val="3359"/>
              </a:lnSpc>
              <a:buFont typeface="Arial"/>
              <a:buChar char="•"/>
            </a:pPr>
            <a:r>
              <a:rPr lang="en-US" sz="2399">
                <a:solidFill>
                  <a:srgbClr val="000000"/>
                </a:solidFill>
                <a:latin typeface="TT Firs Neue"/>
                <a:ea typeface="TT Firs Neue"/>
                <a:cs typeface="TT Firs Neue"/>
                <a:sym typeface="TT Firs Neue"/>
              </a:rPr>
              <a:t>End-of-semester clean, vacuum-seal, and climate-controlled storage for bulky items like coats, blankets, comforters </a:t>
            </a:r>
          </a:p>
          <a:p>
            <a:pPr algn="just" marL="518158" indent="-259079" lvl="1">
              <a:lnSpc>
                <a:spcPts val="3359"/>
              </a:lnSpc>
              <a:buFont typeface="Arial"/>
              <a:buChar char="•"/>
            </a:pPr>
            <a:r>
              <a:rPr lang="en-US" sz="2399">
                <a:solidFill>
                  <a:srgbClr val="000000"/>
                </a:solidFill>
                <a:latin typeface="TT Firs Neue"/>
                <a:ea typeface="TT Firs Neue"/>
                <a:cs typeface="TT Firs Neue"/>
                <a:sym typeface="TT Firs Neue"/>
              </a:rPr>
              <a:t>Pick up in May, return in August during move-in </a:t>
            </a:r>
          </a:p>
          <a:p>
            <a:pPr algn="just" marL="518158" indent="-259079" lvl="1">
              <a:lnSpc>
                <a:spcPts val="3359"/>
              </a:lnSpc>
              <a:buFont typeface="Arial"/>
              <a:buChar char="•"/>
            </a:pPr>
            <a:r>
              <a:rPr lang="en-US" sz="2399">
                <a:solidFill>
                  <a:srgbClr val="000000"/>
                </a:solidFill>
                <a:latin typeface="TT Firs Neue"/>
                <a:ea typeface="TT Firs Neue"/>
                <a:cs typeface="TT Firs Neue"/>
                <a:sym typeface="TT Firs Neue"/>
              </a:rPr>
              <a:t>Recurring, pre-paid packages that smooth summer cash flow</a:t>
            </a:r>
          </a:p>
          <a:p>
            <a:pPr algn="just" marL="0" indent="0" lvl="0">
              <a:lnSpc>
                <a:spcPts val="3359"/>
              </a:lnSpc>
              <a:spcBef>
                <a:spcPct val="0"/>
              </a:spcBef>
            </a:pPr>
          </a:p>
        </p:txBody>
      </p:sp>
      <p:sp>
        <p:nvSpPr>
          <p:cNvPr name="Freeform 7" id="7"/>
          <p:cNvSpPr/>
          <p:nvPr/>
        </p:nvSpPr>
        <p:spPr>
          <a:xfrm flipH="false" flipV="false" rot="0">
            <a:off x="14156694" y="5005535"/>
            <a:ext cx="3791124" cy="2130224"/>
          </a:xfrm>
          <a:custGeom>
            <a:avLst/>
            <a:gdLst/>
            <a:ahLst/>
            <a:cxnLst/>
            <a:rect r="r" b="b" t="t" l="l"/>
            <a:pathLst>
              <a:path h="2130224" w="3791124">
                <a:moveTo>
                  <a:pt x="0" y="0"/>
                </a:moveTo>
                <a:lnTo>
                  <a:pt x="3791123" y="0"/>
                </a:lnTo>
                <a:lnTo>
                  <a:pt x="3791123" y="2130224"/>
                </a:lnTo>
                <a:lnTo>
                  <a:pt x="0" y="2130224"/>
                </a:lnTo>
                <a:lnTo>
                  <a:pt x="0" y="0"/>
                </a:lnTo>
                <a:close/>
              </a:path>
            </a:pathLst>
          </a:custGeom>
          <a:blipFill>
            <a:blip r:embed="rId2"/>
            <a:stretch>
              <a:fillRect l="0" t="-65850" r="0" b="-56610"/>
            </a:stretch>
          </a:blipFill>
        </p:spPr>
      </p:sp>
      <p:sp>
        <p:nvSpPr>
          <p:cNvPr name="TextBox 8" id="8"/>
          <p:cNvSpPr txBox="true"/>
          <p:nvPr/>
        </p:nvSpPr>
        <p:spPr>
          <a:xfrm rot="0">
            <a:off x="2163395" y="970598"/>
            <a:ext cx="1766005" cy="396240"/>
          </a:xfrm>
          <a:prstGeom prst="rect">
            <a:avLst/>
          </a:prstGeom>
        </p:spPr>
        <p:txBody>
          <a:bodyPr anchor="t" rtlCol="false" tIns="0" lIns="0" bIns="0" rIns="0">
            <a:spAutoFit/>
          </a:bodyPr>
          <a:lstStyle/>
          <a:p>
            <a:pPr algn="l" marL="0" indent="0" lvl="0">
              <a:lnSpc>
                <a:spcPts val="3359"/>
              </a:lnSpc>
              <a:spcBef>
                <a:spcPct val="0"/>
              </a:spcBef>
            </a:pPr>
            <a:r>
              <a:rPr lang="en-US" b="true" sz="2400">
                <a:solidFill>
                  <a:srgbClr val="000000"/>
                </a:solidFill>
                <a:latin typeface="Montaser Arabic Ultra-Bold"/>
                <a:ea typeface="Montaser Arabic Ultra-Bold"/>
                <a:cs typeface="Montaser Arabic Ultra-Bold"/>
                <a:sym typeface="Montaser Arabic Ultra-Bold"/>
              </a:rPr>
              <a:t>Wash</a:t>
            </a:r>
          </a:p>
        </p:txBody>
      </p:sp>
      <p:sp>
        <p:nvSpPr>
          <p:cNvPr name="TextBox 9" id="9"/>
          <p:cNvSpPr txBox="true"/>
          <p:nvPr/>
        </p:nvSpPr>
        <p:spPr>
          <a:xfrm rot="0">
            <a:off x="1028700" y="970598"/>
            <a:ext cx="1583559" cy="396240"/>
          </a:xfrm>
          <a:prstGeom prst="rect">
            <a:avLst/>
          </a:prstGeom>
        </p:spPr>
        <p:txBody>
          <a:bodyPr anchor="t" rtlCol="false" tIns="0" lIns="0" bIns="0" rIns="0">
            <a:spAutoFit/>
          </a:bodyPr>
          <a:lstStyle/>
          <a:p>
            <a:pPr algn="l" marL="0" indent="0" lvl="0">
              <a:lnSpc>
                <a:spcPts val="3359"/>
              </a:lnSpc>
              <a:spcBef>
                <a:spcPct val="0"/>
              </a:spcBef>
            </a:pPr>
            <a:r>
              <a:rPr lang="en-US" b="true" sz="2400">
                <a:solidFill>
                  <a:srgbClr val="AB2609"/>
                </a:solidFill>
                <a:latin typeface="Montaser Arabic Ultra-Bold"/>
                <a:ea typeface="Montaser Arabic Ultra-Bold"/>
                <a:cs typeface="Montaser Arabic Ultra-Bold"/>
                <a:sym typeface="Montaser Arabic Ultra-Bold"/>
              </a:rPr>
              <a:t>Scarlet</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998290" y="2268415"/>
            <a:ext cx="8414727" cy="8843732"/>
            <a:chOff x="0" y="0"/>
            <a:chExt cx="2377428" cy="2498635"/>
          </a:xfrm>
        </p:grpSpPr>
        <p:sp>
          <p:nvSpPr>
            <p:cNvPr name="Freeform 3" id="3"/>
            <p:cNvSpPr/>
            <p:nvPr/>
          </p:nvSpPr>
          <p:spPr>
            <a:xfrm flipH="false" flipV="false" rot="0">
              <a:off x="0" y="0"/>
              <a:ext cx="2377428" cy="2498635"/>
            </a:xfrm>
            <a:custGeom>
              <a:avLst/>
              <a:gdLst/>
              <a:ahLst/>
              <a:cxnLst/>
              <a:rect r="r" b="b" t="t" l="l"/>
              <a:pathLst>
                <a:path h="2498635" w="2377428">
                  <a:moveTo>
                    <a:pt x="54283" y="0"/>
                  </a:moveTo>
                  <a:lnTo>
                    <a:pt x="2323145" y="0"/>
                  </a:lnTo>
                  <a:cubicBezTo>
                    <a:pt x="2353125" y="0"/>
                    <a:pt x="2377428" y="24303"/>
                    <a:pt x="2377428" y="54283"/>
                  </a:cubicBezTo>
                  <a:lnTo>
                    <a:pt x="2377428" y="2444353"/>
                  </a:lnTo>
                  <a:cubicBezTo>
                    <a:pt x="2377428" y="2458750"/>
                    <a:pt x="2371709" y="2472556"/>
                    <a:pt x="2361529" y="2482736"/>
                  </a:cubicBezTo>
                  <a:cubicBezTo>
                    <a:pt x="2351349" y="2492916"/>
                    <a:pt x="2337542" y="2498635"/>
                    <a:pt x="2323145" y="2498635"/>
                  </a:cubicBezTo>
                  <a:lnTo>
                    <a:pt x="54283" y="2498635"/>
                  </a:lnTo>
                  <a:cubicBezTo>
                    <a:pt x="39886" y="2498635"/>
                    <a:pt x="26079" y="2492916"/>
                    <a:pt x="15899" y="2482736"/>
                  </a:cubicBezTo>
                  <a:cubicBezTo>
                    <a:pt x="5719" y="2472556"/>
                    <a:pt x="0" y="2458750"/>
                    <a:pt x="0" y="2444353"/>
                  </a:cubicBezTo>
                  <a:lnTo>
                    <a:pt x="0" y="54283"/>
                  </a:lnTo>
                  <a:cubicBezTo>
                    <a:pt x="0" y="39886"/>
                    <a:pt x="5719" y="26079"/>
                    <a:pt x="15899" y="15899"/>
                  </a:cubicBezTo>
                  <a:cubicBezTo>
                    <a:pt x="26079" y="5719"/>
                    <a:pt x="39886" y="0"/>
                    <a:pt x="54283" y="0"/>
                  </a:cubicBezTo>
                  <a:close/>
                </a:path>
              </a:pathLst>
            </a:custGeom>
            <a:solidFill>
              <a:srgbClr val="FFFFFF"/>
            </a:solidFill>
          </p:spPr>
        </p:sp>
        <p:sp>
          <p:nvSpPr>
            <p:cNvPr name="TextBox 4" id="4"/>
            <p:cNvSpPr txBox="true"/>
            <p:nvPr/>
          </p:nvSpPr>
          <p:spPr>
            <a:xfrm>
              <a:off x="0" y="-38100"/>
              <a:ext cx="2377428" cy="2536735"/>
            </a:xfrm>
            <a:prstGeom prst="rect">
              <a:avLst/>
            </a:prstGeom>
          </p:spPr>
          <p:txBody>
            <a:bodyPr anchor="ctr" rtlCol="false" tIns="47355" lIns="47355" bIns="47355" rIns="47355"/>
            <a:lstStyle/>
            <a:p>
              <a:pPr algn="ctr">
                <a:lnSpc>
                  <a:spcPts val="2940"/>
                </a:lnSpc>
              </a:pPr>
            </a:p>
          </p:txBody>
        </p:sp>
      </p:grpSp>
      <p:sp>
        <p:nvSpPr>
          <p:cNvPr name="TextBox 5" id="5"/>
          <p:cNvSpPr txBox="true"/>
          <p:nvPr/>
        </p:nvSpPr>
        <p:spPr>
          <a:xfrm rot="0">
            <a:off x="1028700" y="1486222"/>
            <a:ext cx="16621650" cy="2316861"/>
          </a:xfrm>
          <a:prstGeom prst="rect">
            <a:avLst/>
          </a:prstGeom>
        </p:spPr>
        <p:txBody>
          <a:bodyPr anchor="t" rtlCol="false" tIns="0" lIns="0" bIns="0" rIns="0">
            <a:spAutoFit/>
          </a:bodyPr>
          <a:lstStyle/>
          <a:p>
            <a:pPr algn="l">
              <a:lnSpc>
                <a:spcPts val="6192"/>
              </a:lnSpc>
            </a:pPr>
            <a:r>
              <a:rPr lang="en-US" sz="4800" b="true">
                <a:solidFill>
                  <a:srgbClr val="AB2609"/>
                </a:solidFill>
                <a:latin typeface="Montaser Arabic Ultra-Bold"/>
                <a:ea typeface="Montaser Arabic Ultra-Bold"/>
                <a:cs typeface="Montaser Arabic Ultra-Bold"/>
                <a:sym typeface="Montaser Arabic Ultra-Bold"/>
              </a:rPr>
              <a:t>National expansion decision, approach, and rationale</a:t>
            </a:r>
          </a:p>
          <a:p>
            <a:pPr algn="l" marL="0" indent="0" lvl="0">
              <a:lnSpc>
                <a:spcPts val="6192"/>
              </a:lnSpc>
            </a:pPr>
          </a:p>
        </p:txBody>
      </p:sp>
      <p:sp>
        <p:nvSpPr>
          <p:cNvPr name="TextBox 6" id="6"/>
          <p:cNvSpPr txBox="true"/>
          <p:nvPr/>
        </p:nvSpPr>
        <p:spPr>
          <a:xfrm rot="0">
            <a:off x="482386" y="3406357"/>
            <a:ext cx="14723268" cy="5985128"/>
          </a:xfrm>
          <a:prstGeom prst="rect">
            <a:avLst/>
          </a:prstGeom>
        </p:spPr>
        <p:txBody>
          <a:bodyPr anchor="t" rtlCol="false" tIns="0" lIns="0" bIns="0" rIns="0">
            <a:spAutoFit/>
          </a:bodyPr>
          <a:lstStyle/>
          <a:p>
            <a:pPr algn="l" marL="474994" indent="-237497" lvl="1">
              <a:lnSpc>
                <a:spcPts val="2838"/>
              </a:lnSpc>
              <a:spcBef>
                <a:spcPct val="0"/>
              </a:spcBef>
              <a:buFont typeface="Arial"/>
              <a:buChar char="•"/>
            </a:pPr>
            <a:r>
              <a:rPr lang="en-US" b="true" sz="2200">
                <a:solidFill>
                  <a:srgbClr val="000000"/>
                </a:solidFill>
                <a:latin typeface="TT Firs Neue Bold"/>
                <a:ea typeface="TT Firs Neue Bold"/>
                <a:cs typeface="TT Firs Neue Bold"/>
                <a:sym typeface="TT Firs Neue Bold"/>
              </a:rPr>
              <a:t>National Expansion Decision</a:t>
            </a:r>
          </a:p>
          <a:p>
            <a:pPr algn="l" marL="949988" indent="-316663" lvl="2">
              <a:lnSpc>
                <a:spcPts val="2838"/>
              </a:lnSpc>
              <a:spcBef>
                <a:spcPct val="0"/>
              </a:spcBef>
              <a:buFont typeface="Arial"/>
              <a:buChar char="⚬"/>
            </a:pPr>
            <a:r>
              <a:rPr lang="en-US" sz="2200">
                <a:solidFill>
                  <a:srgbClr val="000000"/>
                </a:solidFill>
                <a:latin typeface="TT Firs Neue"/>
                <a:ea typeface="TT Firs Neue"/>
                <a:cs typeface="TT Firs Neue"/>
                <a:sym typeface="TT Firs Neue"/>
              </a:rPr>
              <a:t>The team decided YES, Scarlet Wash should expand nationally.</a:t>
            </a:r>
          </a:p>
          <a:p>
            <a:pPr algn="l" marL="949988" indent="-316663" lvl="2">
              <a:lnSpc>
                <a:spcPts val="2838"/>
              </a:lnSpc>
              <a:spcBef>
                <a:spcPct val="0"/>
              </a:spcBef>
              <a:buFont typeface="Arial"/>
              <a:buChar char="⚬"/>
            </a:pPr>
            <a:r>
              <a:rPr lang="en-US" sz="2200">
                <a:solidFill>
                  <a:srgbClr val="000000"/>
                </a:solidFill>
                <a:latin typeface="TT Firs Neue"/>
                <a:ea typeface="TT Firs Neue"/>
                <a:cs typeface="TT Firs Neue"/>
                <a:sym typeface="TT Firs Neue"/>
              </a:rPr>
              <a:t>Campus operations have proven successful and attracted interest from universities across the country.</a:t>
            </a:r>
          </a:p>
          <a:p>
            <a:pPr algn="l" marL="949988" indent="-316663" lvl="2">
              <a:lnSpc>
                <a:spcPts val="2838"/>
              </a:lnSpc>
              <a:spcBef>
                <a:spcPct val="0"/>
              </a:spcBef>
              <a:buFont typeface="Arial"/>
              <a:buChar char="⚬"/>
            </a:pPr>
            <a:r>
              <a:rPr lang="en-US" sz="2200">
                <a:solidFill>
                  <a:srgbClr val="000000"/>
                </a:solidFill>
                <a:latin typeface="TT Firs Neue"/>
                <a:ea typeface="TT Firs Neue"/>
                <a:cs typeface="TT Firs Neue"/>
                <a:sym typeface="TT Firs Neue"/>
              </a:rPr>
              <a:t>National growth aligns with the mission to increase student impact and maximize university donations.</a:t>
            </a:r>
          </a:p>
          <a:p>
            <a:pPr algn="l" marL="949988" indent="-316663" lvl="2">
              <a:lnSpc>
                <a:spcPts val="2838"/>
              </a:lnSpc>
              <a:spcBef>
                <a:spcPct val="0"/>
              </a:spcBef>
              <a:buFont typeface="Arial"/>
              <a:buChar char="⚬"/>
            </a:pPr>
            <a:r>
              <a:rPr lang="en-US" sz="2200">
                <a:solidFill>
                  <a:srgbClr val="000000"/>
                </a:solidFill>
                <a:latin typeface="TT Firs Neue"/>
                <a:ea typeface="TT Firs Neue"/>
                <a:cs typeface="TT Firs Neue"/>
                <a:sym typeface="TT Firs Neue"/>
              </a:rPr>
              <a:t>Benefits outweigh risks when expansion is managed carefully.</a:t>
            </a:r>
          </a:p>
          <a:p>
            <a:pPr algn="l">
              <a:lnSpc>
                <a:spcPts val="2838"/>
              </a:lnSpc>
              <a:spcBef>
                <a:spcPct val="0"/>
              </a:spcBef>
            </a:pPr>
          </a:p>
          <a:p>
            <a:pPr algn="l" marL="474994" indent="-237497" lvl="1">
              <a:lnSpc>
                <a:spcPts val="2838"/>
              </a:lnSpc>
              <a:spcBef>
                <a:spcPct val="0"/>
              </a:spcBef>
              <a:buFont typeface="Arial"/>
              <a:buChar char="•"/>
            </a:pPr>
            <a:r>
              <a:rPr lang="en-US" b="true" sz="2200">
                <a:solidFill>
                  <a:srgbClr val="000000"/>
                </a:solidFill>
                <a:latin typeface="TT Firs Neue Bold"/>
                <a:ea typeface="TT Firs Neue Bold"/>
                <a:cs typeface="TT Firs Neue Bold"/>
                <a:sym typeface="TT Firs Neue Bold"/>
              </a:rPr>
              <a:t>Chosen Approach: Franchising</a:t>
            </a:r>
          </a:p>
          <a:p>
            <a:pPr algn="l" marL="949988" indent="-316663" lvl="2">
              <a:lnSpc>
                <a:spcPts val="2838"/>
              </a:lnSpc>
              <a:spcBef>
                <a:spcPct val="0"/>
              </a:spcBef>
              <a:buFont typeface="Arial"/>
              <a:buChar char="⚬"/>
            </a:pPr>
            <a:r>
              <a:rPr lang="en-US" sz="2200">
                <a:solidFill>
                  <a:srgbClr val="000000"/>
                </a:solidFill>
                <a:latin typeface="TT Firs Neue"/>
                <a:ea typeface="TT Firs Neue"/>
                <a:cs typeface="TT Firs Neue"/>
                <a:sym typeface="TT Firs Neue"/>
              </a:rPr>
              <a:t>Franchising selected as the best strategy for national growth.</a:t>
            </a:r>
          </a:p>
          <a:p>
            <a:pPr algn="l" marL="949988" indent="-316663" lvl="2">
              <a:lnSpc>
                <a:spcPts val="2838"/>
              </a:lnSpc>
              <a:spcBef>
                <a:spcPct val="0"/>
              </a:spcBef>
              <a:buFont typeface="Arial"/>
              <a:buChar char="⚬"/>
            </a:pPr>
            <a:r>
              <a:rPr lang="en-US" sz="2200">
                <a:solidFill>
                  <a:srgbClr val="000000"/>
                </a:solidFill>
                <a:latin typeface="TT Firs Neue"/>
                <a:ea typeface="TT Firs Neue"/>
                <a:cs typeface="TT Firs Neue"/>
                <a:sym typeface="TT Firs Neue"/>
              </a:rPr>
              <a:t>Allows rapid expansion without heavy financial strain.</a:t>
            </a:r>
          </a:p>
          <a:p>
            <a:pPr algn="l" marL="949988" indent="-316663" lvl="2">
              <a:lnSpc>
                <a:spcPts val="2838"/>
              </a:lnSpc>
              <a:spcBef>
                <a:spcPct val="0"/>
              </a:spcBef>
              <a:buFont typeface="Arial"/>
              <a:buChar char="⚬"/>
            </a:pPr>
            <a:r>
              <a:rPr lang="en-US" sz="2200">
                <a:solidFill>
                  <a:srgbClr val="000000"/>
                </a:solidFill>
                <a:latin typeface="TT Firs Neue"/>
                <a:ea typeface="TT Firs Neue"/>
                <a:cs typeface="TT Firs Neue"/>
                <a:sym typeface="TT Firs Neue"/>
              </a:rPr>
              <a:t>Students at each campus can operate local chapters under a standardized model.</a:t>
            </a:r>
          </a:p>
          <a:p>
            <a:pPr algn="l" marL="949988" indent="-316663" lvl="2">
              <a:lnSpc>
                <a:spcPts val="2838"/>
              </a:lnSpc>
              <a:spcBef>
                <a:spcPct val="0"/>
              </a:spcBef>
              <a:buFont typeface="Arial"/>
              <a:buChar char="⚬"/>
            </a:pPr>
            <a:r>
              <a:rPr lang="en-US" sz="2200">
                <a:solidFill>
                  <a:srgbClr val="000000"/>
                </a:solidFill>
                <a:latin typeface="TT Firs Neue"/>
                <a:ea typeface="TT Firs Neue"/>
                <a:cs typeface="TT Firs Neue"/>
                <a:sym typeface="TT Firs Neue"/>
              </a:rPr>
              <a:t>Ensures operational consistency while spreading the nonprofit mission.</a:t>
            </a:r>
          </a:p>
          <a:p>
            <a:pPr algn="l">
              <a:lnSpc>
                <a:spcPts val="2838"/>
              </a:lnSpc>
              <a:spcBef>
                <a:spcPct val="0"/>
              </a:spcBef>
            </a:pPr>
          </a:p>
          <a:p>
            <a:pPr algn="l" marL="474994" indent="-237497" lvl="1">
              <a:lnSpc>
                <a:spcPts val="2838"/>
              </a:lnSpc>
              <a:spcBef>
                <a:spcPct val="0"/>
              </a:spcBef>
              <a:buFont typeface="Arial"/>
              <a:buChar char="•"/>
            </a:pPr>
            <a:r>
              <a:rPr lang="en-US" b="true" sz="2200">
                <a:solidFill>
                  <a:srgbClr val="000000"/>
                </a:solidFill>
                <a:latin typeface="TT Firs Neue Bold"/>
                <a:ea typeface="TT Firs Neue Bold"/>
                <a:cs typeface="TT Firs Neue Bold"/>
                <a:sym typeface="TT Firs Neue Bold"/>
              </a:rPr>
              <a:t>Rationale</a:t>
            </a:r>
          </a:p>
          <a:p>
            <a:pPr algn="l" marL="949988" indent="-316663" lvl="2">
              <a:lnSpc>
                <a:spcPts val="2838"/>
              </a:lnSpc>
              <a:spcBef>
                <a:spcPct val="0"/>
              </a:spcBef>
              <a:buFont typeface="Arial"/>
              <a:buChar char="⚬"/>
            </a:pPr>
            <a:r>
              <a:rPr lang="en-US" sz="2200">
                <a:solidFill>
                  <a:srgbClr val="000000"/>
                </a:solidFill>
                <a:latin typeface="TT Firs Neue"/>
                <a:ea typeface="TT Firs Neue"/>
                <a:cs typeface="TT Firs Neue"/>
                <a:sym typeface="TT Firs Neue"/>
              </a:rPr>
              <a:t>Lower risk: avoids raising large amounts of capital and overstretching resources.</a:t>
            </a:r>
          </a:p>
          <a:p>
            <a:pPr algn="l" marL="949988" indent="-316663" lvl="2">
              <a:lnSpc>
                <a:spcPts val="2838"/>
              </a:lnSpc>
              <a:spcBef>
                <a:spcPct val="0"/>
              </a:spcBef>
              <a:buFont typeface="Arial"/>
              <a:buChar char="⚬"/>
            </a:pPr>
            <a:r>
              <a:rPr lang="en-US" sz="2200">
                <a:solidFill>
                  <a:srgbClr val="000000"/>
                </a:solidFill>
                <a:latin typeface="TT Firs Neue"/>
                <a:ea typeface="TT Firs Neue"/>
                <a:cs typeface="TT Firs Neue"/>
                <a:sym typeface="TT Firs Neue"/>
              </a:rPr>
              <a:t>Scalable model: growth can occur quickly through multiple campuses.</a:t>
            </a:r>
          </a:p>
          <a:p>
            <a:pPr algn="l" marL="949988" indent="-316663" lvl="2">
              <a:lnSpc>
                <a:spcPts val="2838"/>
              </a:lnSpc>
              <a:spcBef>
                <a:spcPct val="0"/>
              </a:spcBef>
              <a:buFont typeface="Arial"/>
              <a:buChar char="⚬"/>
            </a:pPr>
            <a:r>
              <a:rPr lang="en-US" sz="2200">
                <a:solidFill>
                  <a:srgbClr val="000000"/>
                </a:solidFill>
                <a:latin typeface="TT Firs Neue"/>
                <a:ea typeface="TT Firs Neue"/>
                <a:cs typeface="TT Firs Neue"/>
                <a:sym typeface="TT Firs Neue"/>
              </a:rPr>
              <a:t>Mission protection: franchise rules require donations back to each university</a:t>
            </a:r>
          </a:p>
          <a:p>
            <a:pPr algn="l" marL="949988" indent="-316663" lvl="2">
              <a:lnSpc>
                <a:spcPts val="2838"/>
              </a:lnSpc>
              <a:buFont typeface="Arial"/>
              <a:buChar char="⚬"/>
            </a:pPr>
            <a:r>
              <a:rPr lang="en-US" sz="2200">
                <a:solidFill>
                  <a:srgbClr val="000000"/>
                </a:solidFill>
                <a:latin typeface="TT Firs Neue"/>
                <a:ea typeface="TT Firs Neue"/>
                <a:cs typeface="TT Firs Neue"/>
                <a:sym typeface="TT Firs Neue"/>
              </a:rPr>
              <a:t>University partnerships: structured framework helps expand impact to more students nationwide</a:t>
            </a:r>
          </a:p>
        </p:txBody>
      </p:sp>
      <p:sp>
        <p:nvSpPr>
          <p:cNvPr name="Freeform 7" id="7"/>
          <p:cNvSpPr/>
          <p:nvPr/>
        </p:nvSpPr>
        <p:spPr>
          <a:xfrm flipH="false" flipV="false" rot="0">
            <a:off x="14342226" y="4835159"/>
            <a:ext cx="3724723" cy="4196281"/>
          </a:xfrm>
          <a:custGeom>
            <a:avLst/>
            <a:gdLst/>
            <a:ahLst/>
            <a:cxnLst/>
            <a:rect r="r" b="b" t="t" l="l"/>
            <a:pathLst>
              <a:path h="4196281" w="3724723">
                <a:moveTo>
                  <a:pt x="0" y="0"/>
                </a:moveTo>
                <a:lnTo>
                  <a:pt x="3724724" y="0"/>
                </a:lnTo>
                <a:lnTo>
                  <a:pt x="3724724" y="4196281"/>
                </a:lnTo>
                <a:lnTo>
                  <a:pt x="0" y="4196281"/>
                </a:lnTo>
                <a:lnTo>
                  <a:pt x="0" y="0"/>
                </a:lnTo>
                <a:close/>
              </a:path>
            </a:pathLst>
          </a:custGeom>
          <a:blipFill>
            <a:blip r:embed="rId2"/>
            <a:stretch>
              <a:fillRect l="-4340" t="0" r="-2989" b="-19085"/>
            </a:stretch>
          </a:blipFill>
        </p:spPr>
      </p:sp>
      <p:sp>
        <p:nvSpPr>
          <p:cNvPr name="TextBox 8" id="8"/>
          <p:cNvSpPr txBox="true"/>
          <p:nvPr/>
        </p:nvSpPr>
        <p:spPr>
          <a:xfrm rot="0">
            <a:off x="2163395" y="970598"/>
            <a:ext cx="1766005" cy="396240"/>
          </a:xfrm>
          <a:prstGeom prst="rect">
            <a:avLst/>
          </a:prstGeom>
        </p:spPr>
        <p:txBody>
          <a:bodyPr anchor="t" rtlCol="false" tIns="0" lIns="0" bIns="0" rIns="0">
            <a:spAutoFit/>
          </a:bodyPr>
          <a:lstStyle/>
          <a:p>
            <a:pPr algn="l" marL="0" indent="0" lvl="0">
              <a:lnSpc>
                <a:spcPts val="3359"/>
              </a:lnSpc>
              <a:spcBef>
                <a:spcPct val="0"/>
              </a:spcBef>
            </a:pPr>
            <a:r>
              <a:rPr lang="en-US" b="true" sz="2400">
                <a:solidFill>
                  <a:srgbClr val="000000"/>
                </a:solidFill>
                <a:latin typeface="Montaser Arabic Ultra-Bold"/>
                <a:ea typeface="Montaser Arabic Ultra-Bold"/>
                <a:cs typeface="Montaser Arabic Ultra-Bold"/>
                <a:sym typeface="Montaser Arabic Ultra-Bold"/>
              </a:rPr>
              <a:t>Wash</a:t>
            </a:r>
          </a:p>
        </p:txBody>
      </p:sp>
      <p:sp>
        <p:nvSpPr>
          <p:cNvPr name="TextBox 9" id="9"/>
          <p:cNvSpPr txBox="true"/>
          <p:nvPr/>
        </p:nvSpPr>
        <p:spPr>
          <a:xfrm rot="0">
            <a:off x="1028700" y="970598"/>
            <a:ext cx="1583559" cy="396240"/>
          </a:xfrm>
          <a:prstGeom prst="rect">
            <a:avLst/>
          </a:prstGeom>
        </p:spPr>
        <p:txBody>
          <a:bodyPr anchor="t" rtlCol="false" tIns="0" lIns="0" bIns="0" rIns="0">
            <a:spAutoFit/>
          </a:bodyPr>
          <a:lstStyle/>
          <a:p>
            <a:pPr algn="l" marL="0" indent="0" lvl="0">
              <a:lnSpc>
                <a:spcPts val="3359"/>
              </a:lnSpc>
              <a:spcBef>
                <a:spcPct val="0"/>
              </a:spcBef>
            </a:pPr>
            <a:r>
              <a:rPr lang="en-US" b="true" sz="2400">
                <a:solidFill>
                  <a:srgbClr val="AB2609"/>
                </a:solidFill>
                <a:latin typeface="Montaser Arabic Ultra-Bold"/>
                <a:ea typeface="Montaser Arabic Ultra-Bold"/>
                <a:cs typeface="Montaser Arabic Ultra-Bold"/>
                <a:sym typeface="Montaser Arabic Ultra-Bold"/>
              </a:rPr>
              <a:t>Scarlet</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4624550" y="4188717"/>
            <a:ext cx="3204609" cy="3204609"/>
          </a:xfrm>
          <a:custGeom>
            <a:avLst/>
            <a:gdLst/>
            <a:ahLst/>
            <a:cxnLst/>
            <a:rect r="r" b="b" t="t" l="l"/>
            <a:pathLst>
              <a:path h="3204609" w="3204609">
                <a:moveTo>
                  <a:pt x="0" y="0"/>
                </a:moveTo>
                <a:lnTo>
                  <a:pt x="3204609" y="0"/>
                </a:lnTo>
                <a:lnTo>
                  <a:pt x="3204609" y="3204609"/>
                </a:lnTo>
                <a:lnTo>
                  <a:pt x="0" y="3204609"/>
                </a:lnTo>
                <a:lnTo>
                  <a:pt x="0" y="0"/>
                </a:lnTo>
                <a:close/>
              </a:path>
            </a:pathLst>
          </a:custGeom>
          <a:blipFill>
            <a:blip r:embed="rId2"/>
            <a:stretch>
              <a:fillRect l="0" t="0" r="0" b="0"/>
            </a:stretch>
          </a:blipFill>
        </p:spPr>
      </p:sp>
      <p:sp>
        <p:nvSpPr>
          <p:cNvPr name="TextBox 3" id="3"/>
          <p:cNvSpPr txBox="true"/>
          <p:nvPr/>
        </p:nvSpPr>
        <p:spPr>
          <a:xfrm rot="0">
            <a:off x="1028700" y="1486222"/>
            <a:ext cx="16621650" cy="2316861"/>
          </a:xfrm>
          <a:prstGeom prst="rect">
            <a:avLst/>
          </a:prstGeom>
        </p:spPr>
        <p:txBody>
          <a:bodyPr anchor="t" rtlCol="false" tIns="0" lIns="0" bIns="0" rIns="0">
            <a:spAutoFit/>
          </a:bodyPr>
          <a:lstStyle/>
          <a:p>
            <a:pPr algn="l">
              <a:lnSpc>
                <a:spcPts val="6192"/>
              </a:lnSpc>
            </a:pPr>
            <a:r>
              <a:rPr lang="en-US" sz="4800" b="true">
                <a:solidFill>
                  <a:srgbClr val="AB2609"/>
                </a:solidFill>
                <a:latin typeface="Montaser Arabic Ultra-Bold"/>
                <a:ea typeface="Montaser Arabic Ultra-Bold"/>
                <a:cs typeface="Montaser Arabic Ultra-Bold"/>
                <a:sym typeface="Montaser Arabic Ultra-Bold"/>
              </a:rPr>
              <a:t>Selected Country for Global Expansion &amp; Why</a:t>
            </a:r>
          </a:p>
          <a:p>
            <a:pPr algn="l">
              <a:lnSpc>
                <a:spcPts val="6192"/>
              </a:lnSpc>
            </a:pPr>
          </a:p>
          <a:p>
            <a:pPr algn="l" marL="0" indent="0" lvl="0">
              <a:lnSpc>
                <a:spcPts val="6192"/>
              </a:lnSpc>
            </a:pPr>
          </a:p>
        </p:txBody>
      </p:sp>
      <p:sp>
        <p:nvSpPr>
          <p:cNvPr name="TextBox 4" id="4"/>
          <p:cNvSpPr txBox="true"/>
          <p:nvPr/>
        </p:nvSpPr>
        <p:spPr>
          <a:xfrm rot="0">
            <a:off x="1028700" y="3428523"/>
            <a:ext cx="13100921" cy="5599430"/>
          </a:xfrm>
          <a:prstGeom prst="rect">
            <a:avLst/>
          </a:prstGeom>
        </p:spPr>
        <p:txBody>
          <a:bodyPr anchor="t" rtlCol="false" tIns="0" lIns="0" bIns="0" rIns="0">
            <a:spAutoFit/>
          </a:bodyPr>
          <a:lstStyle/>
          <a:p>
            <a:pPr algn="just">
              <a:lnSpc>
                <a:spcPts val="3219"/>
              </a:lnSpc>
            </a:pPr>
            <a:r>
              <a:rPr lang="en-US" sz="2299" b="true">
                <a:solidFill>
                  <a:srgbClr val="000000"/>
                </a:solidFill>
                <a:latin typeface="TT Firs Neue Bold"/>
                <a:ea typeface="TT Firs Neue Bold"/>
                <a:cs typeface="TT Firs Neue Bold"/>
                <a:sym typeface="TT Firs Neue Bold"/>
              </a:rPr>
              <a:t>Country Selected: Canada</a:t>
            </a:r>
          </a:p>
          <a:p>
            <a:pPr algn="just">
              <a:lnSpc>
                <a:spcPts val="3219"/>
              </a:lnSpc>
            </a:pPr>
          </a:p>
          <a:p>
            <a:pPr algn="just" marL="496569" indent="-248284" lvl="1">
              <a:lnSpc>
                <a:spcPts val="3219"/>
              </a:lnSpc>
              <a:buFont typeface="Arial"/>
              <a:buChar char="•"/>
            </a:pPr>
            <a:r>
              <a:rPr lang="en-US" b="true" sz="2299">
                <a:solidFill>
                  <a:srgbClr val="000000"/>
                </a:solidFill>
                <a:latin typeface="TT Firs Neue Bold"/>
                <a:ea typeface="TT Firs Neue Bold"/>
                <a:cs typeface="TT Firs Neue Bold"/>
                <a:sym typeface="TT Firs Neue Bold"/>
              </a:rPr>
              <a:t>Opportunity</a:t>
            </a:r>
            <a:r>
              <a:rPr lang="en-US" sz="2299">
                <a:solidFill>
                  <a:srgbClr val="000000"/>
                </a:solidFill>
                <a:latin typeface="TT Firs Neue"/>
                <a:ea typeface="TT Firs Neue"/>
                <a:cs typeface="TT Firs Neue"/>
                <a:sym typeface="TT Firs Neue"/>
              </a:rPr>
              <a:t>: We have very similar Cultures. Low cultural distance to the US, particularly in high individualism and low power distance, suggests that our Scarlet Wash business model would require minimal adaptation.</a:t>
            </a:r>
          </a:p>
          <a:p>
            <a:pPr algn="just">
              <a:lnSpc>
                <a:spcPts val="3219"/>
              </a:lnSpc>
            </a:pPr>
          </a:p>
          <a:p>
            <a:pPr algn="just" marL="496569" indent="-248284" lvl="1">
              <a:lnSpc>
                <a:spcPts val="3219"/>
              </a:lnSpc>
              <a:buFont typeface="Arial"/>
              <a:buChar char="•"/>
            </a:pPr>
            <a:r>
              <a:rPr lang="en-US" b="true" sz="2299">
                <a:solidFill>
                  <a:srgbClr val="000000"/>
                </a:solidFill>
                <a:latin typeface="TT Firs Neue Bold"/>
                <a:ea typeface="TT Firs Neue Bold"/>
                <a:cs typeface="TT Firs Neue Bold"/>
                <a:sym typeface="TT Firs Neue Bold"/>
              </a:rPr>
              <a:t>Challenges</a:t>
            </a:r>
            <a:r>
              <a:rPr lang="en-US" sz="2299">
                <a:solidFill>
                  <a:srgbClr val="000000"/>
                </a:solidFill>
                <a:latin typeface="TT Firs Neue"/>
                <a:ea typeface="TT Firs Neue"/>
                <a:cs typeface="TT Firs Neue"/>
                <a:sym typeface="TT Firs Neue"/>
              </a:rPr>
              <a:t>: The projected modest GDP growth (1.16% in 2025) and slightly higher unemployment (7.01% in 2025) may limit short-term student spending compared to peak economic times.</a:t>
            </a:r>
          </a:p>
          <a:p>
            <a:pPr algn="just">
              <a:lnSpc>
                <a:spcPts val="3219"/>
              </a:lnSpc>
            </a:pPr>
          </a:p>
          <a:p>
            <a:pPr algn="just" marL="496569" indent="-248284" lvl="1">
              <a:lnSpc>
                <a:spcPts val="3219"/>
              </a:lnSpc>
              <a:buFont typeface="Arial"/>
              <a:buChar char="•"/>
            </a:pPr>
            <a:r>
              <a:rPr lang="en-US" b="true" sz="2299">
                <a:solidFill>
                  <a:srgbClr val="000000"/>
                </a:solidFill>
                <a:latin typeface="TT Firs Neue Bold"/>
                <a:ea typeface="TT Firs Neue Bold"/>
                <a:cs typeface="TT Firs Neue Bold"/>
                <a:sym typeface="TT Firs Neue Bold"/>
              </a:rPr>
              <a:t>Overall Rationale</a:t>
            </a:r>
            <a:r>
              <a:rPr lang="en-US" sz="2299">
                <a:solidFill>
                  <a:srgbClr val="000000"/>
                </a:solidFill>
                <a:latin typeface="TT Firs Neue"/>
                <a:ea typeface="TT Firs Neue"/>
                <a:cs typeface="TT Firs Neue"/>
                <a:sym typeface="TT Firs Neue"/>
              </a:rPr>
              <a:t>: Canada offers the lowest risk and easiest entry due to its geographic proximity, economic stability, and strong institutional support for foreign business. Most importantly, the high cultural similarity to the US</a:t>
            </a:r>
          </a:p>
          <a:p>
            <a:pPr algn="just">
              <a:lnSpc>
                <a:spcPts val="3219"/>
              </a:lnSpc>
            </a:pPr>
          </a:p>
        </p:txBody>
      </p:sp>
      <p:sp>
        <p:nvSpPr>
          <p:cNvPr name="TextBox 5" id="5"/>
          <p:cNvSpPr txBox="true"/>
          <p:nvPr/>
        </p:nvSpPr>
        <p:spPr>
          <a:xfrm rot="0">
            <a:off x="2163395" y="970598"/>
            <a:ext cx="1766005" cy="396240"/>
          </a:xfrm>
          <a:prstGeom prst="rect">
            <a:avLst/>
          </a:prstGeom>
        </p:spPr>
        <p:txBody>
          <a:bodyPr anchor="t" rtlCol="false" tIns="0" lIns="0" bIns="0" rIns="0">
            <a:spAutoFit/>
          </a:bodyPr>
          <a:lstStyle/>
          <a:p>
            <a:pPr algn="l" marL="0" indent="0" lvl="0">
              <a:lnSpc>
                <a:spcPts val="3359"/>
              </a:lnSpc>
              <a:spcBef>
                <a:spcPct val="0"/>
              </a:spcBef>
            </a:pPr>
            <a:r>
              <a:rPr lang="en-US" b="true" sz="2400">
                <a:solidFill>
                  <a:srgbClr val="000000"/>
                </a:solidFill>
                <a:latin typeface="Montaser Arabic Ultra-Bold"/>
                <a:ea typeface="Montaser Arabic Ultra-Bold"/>
                <a:cs typeface="Montaser Arabic Ultra-Bold"/>
                <a:sym typeface="Montaser Arabic Ultra-Bold"/>
              </a:rPr>
              <a:t>Wash</a:t>
            </a:r>
          </a:p>
        </p:txBody>
      </p:sp>
      <p:sp>
        <p:nvSpPr>
          <p:cNvPr name="TextBox 6" id="6"/>
          <p:cNvSpPr txBox="true"/>
          <p:nvPr/>
        </p:nvSpPr>
        <p:spPr>
          <a:xfrm rot="0">
            <a:off x="1028700" y="970598"/>
            <a:ext cx="1583559" cy="396240"/>
          </a:xfrm>
          <a:prstGeom prst="rect">
            <a:avLst/>
          </a:prstGeom>
        </p:spPr>
        <p:txBody>
          <a:bodyPr anchor="t" rtlCol="false" tIns="0" lIns="0" bIns="0" rIns="0">
            <a:spAutoFit/>
          </a:bodyPr>
          <a:lstStyle/>
          <a:p>
            <a:pPr algn="l" marL="0" indent="0" lvl="0">
              <a:lnSpc>
                <a:spcPts val="3359"/>
              </a:lnSpc>
              <a:spcBef>
                <a:spcPct val="0"/>
              </a:spcBef>
            </a:pPr>
            <a:r>
              <a:rPr lang="en-US" b="true" sz="2400">
                <a:solidFill>
                  <a:srgbClr val="AB2609"/>
                </a:solidFill>
                <a:latin typeface="Montaser Arabic Ultra-Bold"/>
                <a:ea typeface="Montaser Arabic Ultra-Bold"/>
                <a:cs typeface="Montaser Arabic Ultra-Bold"/>
                <a:sym typeface="Montaser Arabic Ultra-Bold"/>
              </a:rPr>
              <a:t>Scarlet</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4251943" y="4134899"/>
            <a:ext cx="3786590" cy="4386695"/>
          </a:xfrm>
          <a:custGeom>
            <a:avLst/>
            <a:gdLst/>
            <a:ahLst/>
            <a:cxnLst/>
            <a:rect r="r" b="b" t="t" l="l"/>
            <a:pathLst>
              <a:path h="4386695" w="3786590">
                <a:moveTo>
                  <a:pt x="0" y="0"/>
                </a:moveTo>
                <a:lnTo>
                  <a:pt x="3786590" y="0"/>
                </a:lnTo>
                <a:lnTo>
                  <a:pt x="3786590" y="4386695"/>
                </a:lnTo>
                <a:lnTo>
                  <a:pt x="0" y="4386695"/>
                </a:lnTo>
                <a:lnTo>
                  <a:pt x="0" y="0"/>
                </a:lnTo>
                <a:close/>
              </a:path>
            </a:pathLst>
          </a:custGeom>
          <a:blipFill>
            <a:blip r:embed="rId2"/>
            <a:stretch>
              <a:fillRect l="-2275" t="0" r="-3264" b="-13876"/>
            </a:stretch>
          </a:blipFill>
        </p:spPr>
      </p:sp>
      <p:sp>
        <p:nvSpPr>
          <p:cNvPr name="TextBox 3" id="3"/>
          <p:cNvSpPr txBox="true"/>
          <p:nvPr/>
        </p:nvSpPr>
        <p:spPr>
          <a:xfrm rot="0">
            <a:off x="1028700" y="1486222"/>
            <a:ext cx="16621650" cy="2316861"/>
          </a:xfrm>
          <a:prstGeom prst="rect">
            <a:avLst/>
          </a:prstGeom>
        </p:spPr>
        <p:txBody>
          <a:bodyPr anchor="t" rtlCol="false" tIns="0" lIns="0" bIns="0" rIns="0">
            <a:spAutoFit/>
          </a:bodyPr>
          <a:lstStyle/>
          <a:p>
            <a:pPr algn="l">
              <a:lnSpc>
                <a:spcPts val="6192"/>
              </a:lnSpc>
            </a:pPr>
            <a:r>
              <a:rPr lang="en-US" sz="4800" b="true">
                <a:solidFill>
                  <a:srgbClr val="AB2609"/>
                </a:solidFill>
                <a:latin typeface="Montaser Arabic Ultra-Bold"/>
                <a:ea typeface="Montaser Arabic Ultra-Bold"/>
                <a:cs typeface="Montaser Arabic Ultra-Bold"/>
                <a:sym typeface="Montaser Arabic Ultra-Bold"/>
              </a:rPr>
              <a:t>Expansion Strategy, Entry Strategy, and Rationale</a:t>
            </a:r>
          </a:p>
          <a:p>
            <a:pPr algn="l">
              <a:lnSpc>
                <a:spcPts val="6192"/>
              </a:lnSpc>
            </a:pPr>
          </a:p>
          <a:p>
            <a:pPr algn="l" marL="0" indent="0" lvl="0">
              <a:lnSpc>
                <a:spcPts val="6192"/>
              </a:lnSpc>
            </a:pPr>
          </a:p>
        </p:txBody>
      </p:sp>
      <p:sp>
        <p:nvSpPr>
          <p:cNvPr name="TextBox 4" id="4"/>
          <p:cNvSpPr txBox="true"/>
          <p:nvPr/>
        </p:nvSpPr>
        <p:spPr>
          <a:xfrm rot="0">
            <a:off x="544292" y="3258820"/>
            <a:ext cx="13360129" cy="5999480"/>
          </a:xfrm>
          <a:prstGeom prst="rect">
            <a:avLst/>
          </a:prstGeom>
        </p:spPr>
        <p:txBody>
          <a:bodyPr anchor="t" rtlCol="false" tIns="0" lIns="0" bIns="0" rIns="0">
            <a:spAutoFit/>
          </a:bodyPr>
          <a:lstStyle/>
          <a:p>
            <a:pPr algn="just" marL="496569" indent="-248284" lvl="1">
              <a:lnSpc>
                <a:spcPts val="3219"/>
              </a:lnSpc>
              <a:buFont typeface="Arial"/>
              <a:buChar char="•"/>
            </a:pPr>
            <a:r>
              <a:rPr lang="en-US" b="true" sz="2299">
                <a:solidFill>
                  <a:srgbClr val="000000"/>
                </a:solidFill>
                <a:latin typeface="TT Firs Neue Bold"/>
                <a:ea typeface="TT Firs Neue Bold"/>
                <a:cs typeface="TT Firs Neue Bold"/>
                <a:sym typeface="TT Firs Neue Bold"/>
              </a:rPr>
              <a:t>Expansion strategy </a:t>
            </a:r>
          </a:p>
          <a:p>
            <a:pPr algn="just" marL="993138" indent="-331046" lvl="2">
              <a:lnSpc>
                <a:spcPts val="3219"/>
              </a:lnSpc>
              <a:buFont typeface="Arial"/>
              <a:buChar char="⚬"/>
            </a:pPr>
            <a:r>
              <a:rPr lang="en-US" sz="2299">
                <a:solidFill>
                  <a:srgbClr val="000000"/>
                </a:solidFill>
                <a:latin typeface="TT Firs Neue"/>
                <a:ea typeface="TT Firs Neue"/>
                <a:cs typeface="TT Firs Neue"/>
                <a:sym typeface="TT Firs Neue"/>
              </a:rPr>
              <a:t> We selected a hybrid global/local strategy, keeping core Scarlet Wash operations standardized while customizing detergents, pricing, and sustainability features to match Canadian expectations and local university regulations.</a:t>
            </a:r>
          </a:p>
          <a:p>
            <a:pPr algn="just">
              <a:lnSpc>
                <a:spcPts val="3219"/>
              </a:lnSpc>
            </a:pPr>
          </a:p>
          <a:p>
            <a:pPr algn="just" marL="496569" indent="-248284" lvl="1">
              <a:lnSpc>
                <a:spcPts val="3219"/>
              </a:lnSpc>
              <a:buFont typeface="Arial"/>
              <a:buChar char="•"/>
            </a:pPr>
            <a:r>
              <a:rPr lang="en-US" b="true" sz="2299">
                <a:solidFill>
                  <a:srgbClr val="000000"/>
                </a:solidFill>
                <a:latin typeface="TT Firs Neue Bold"/>
                <a:ea typeface="TT Firs Neue Bold"/>
                <a:cs typeface="TT Firs Neue Bold"/>
                <a:sym typeface="TT Firs Neue Bold"/>
              </a:rPr>
              <a:t>Entry Strategy </a:t>
            </a:r>
          </a:p>
          <a:p>
            <a:pPr algn="just" marL="993138" indent="-331046" lvl="2">
              <a:lnSpc>
                <a:spcPts val="3219"/>
              </a:lnSpc>
              <a:buFont typeface="Arial"/>
              <a:buChar char="⚬"/>
            </a:pPr>
            <a:r>
              <a:rPr lang="en-US" sz="2299">
                <a:solidFill>
                  <a:srgbClr val="000000"/>
                </a:solidFill>
                <a:latin typeface="TT Firs Neue"/>
                <a:ea typeface="TT Firs Neue"/>
                <a:cs typeface="TT Firs Neue"/>
                <a:sym typeface="TT Firs Neue"/>
              </a:rPr>
              <a:t>For international entry, the team chose a Joint Venture approach to partner with experienced local operators, allowing greater control over procedures, faster regulatory approval, and smoother operations in a foreign environment.</a:t>
            </a:r>
          </a:p>
          <a:p>
            <a:pPr algn="just">
              <a:lnSpc>
                <a:spcPts val="3219"/>
              </a:lnSpc>
            </a:pPr>
          </a:p>
          <a:p>
            <a:pPr algn="just" marL="496569" indent="-248284" lvl="1">
              <a:lnSpc>
                <a:spcPts val="3219"/>
              </a:lnSpc>
              <a:buFont typeface="Arial"/>
              <a:buChar char="•"/>
            </a:pPr>
            <a:r>
              <a:rPr lang="en-US" b="true" sz="2299">
                <a:solidFill>
                  <a:srgbClr val="000000"/>
                </a:solidFill>
                <a:latin typeface="TT Firs Neue Bold"/>
                <a:ea typeface="TT Firs Neue Bold"/>
                <a:cs typeface="TT Firs Neue Bold"/>
                <a:sym typeface="TT Firs Neue Bold"/>
              </a:rPr>
              <a:t>Rational</a:t>
            </a:r>
          </a:p>
          <a:p>
            <a:pPr algn="just" marL="993138" indent="-331046" lvl="2">
              <a:lnSpc>
                <a:spcPts val="3219"/>
              </a:lnSpc>
              <a:buFont typeface="Arial"/>
              <a:buChar char="⚬"/>
            </a:pPr>
            <a:r>
              <a:rPr lang="en-US" sz="2299">
                <a:solidFill>
                  <a:srgbClr val="000000"/>
                </a:solidFill>
                <a:latin typeface="TT Firs Neue"/>
                <a:ea typeface="TT Firs Neue"/>
                <a:cs typeface="TT Firs Neue"/>
                <a:sym typeface="TT Firs Neue"/>
              </a:rPr>
              <a:t>The rationale highlights that Canada is the lowest-risk international market due to strong cultural similarity and stable institutions, and a joint venture ensures both local expertise and organizational control, improving operational success and compliance.</a:t>
            </a:r>
          </a:p>
          <a:p>
            <a:pPr algn="just" marL="0" indent="0" lvl="0">
              <a:lnSpc>
                <a:spcPts val="3219"/>
              </a:lnSpc>
              <a:spcBef>
                <a:spcPct val="0"/>
              </a:spcBef>
            </a:pPr>
          </a:p>
        </p:txBody>
      </p:sp>
      <p:sp>
        <p:nvSpPr>
          <p:cNvPr name="TextBox 5" id="5"/>
          <p:cNvSpPr txBox="true"/>
          <p:nvPr/>
        </p:nvSpPr>
        <p:spPr>
          <a:xfrm rot="0">
            <a:off x="2163395" y="970598"/>
            <a:ext cx="1766005" cy="396240"/>
          </a:xfrm>
          <a:prstGeom prst="rect">
            <a:avLst/>
          </a:prstGeom>
        </p:spPr>
        <p:txBody>
          <a:bodyPr anchor="t" rtlCol="false" tIns="0" lIns="0" bIns="0" rIns="0">
            <a:spAutoFit/>
          </a:bodyPr>
          <a:lstStyle/>
          <a:p>
            <a:pPr algn="l" marL="0" indent="0" lvl="0">
              <a:lnSpc>
                <a:spcPts val="3359"/>
              </a:lnSpc>
              <a:spcBef>
                <a:spcPct val="0"/>
              </a:spcBef>
            </a:pPr>
            <a:r>
              <a:rPr lang="en-US" b="true" sz="2400">
                <a:solidFill>
                  <a:srgbClr val="000000"/>
                </a:solidFill>
                <a:latin typeface="Montaser Arabic Ultra-Bold"/>
                <a:ea typeface="Montaser Arabic Ultra-Bold"/>
                <a:cs typeface="Montaser Arabic Ultra-Bold"/>
                <a:sym typeface="Montaser Arabic Ultra-Bold"/>
              </a:rPr>
              <a:t>Wash</a:t>
            </a:r>
          </a:p>
        </p:txBody>
      </p:sp>
      <p:sp>
        <p:nvSpPr>
          <p:cNvPr name="TextBox 6" id="6"/>
          <p:cNvSpPr txBox="true"/>
          <p:nvPr/>
        </p:nvSpPr>
        <p:spPr>
          <a:xfrm rot="0">
            <a:off x="1028700" y="970598"/>
            <a:ext cx="1583559" cy="396240"/>
          </a:xfrm>
          <a:prstGeom prst="rect">
            <a:avLst/>
          </a:prstGeom>
        </p:spPr>
        <p:txBody>
          <a:bodyPr anchor="t" rtlCol="false" tIns="0" lIns="0" bIns="0" rIns="0">
            <a:spAutoFit/>
          </a:bodyPr>
          <a:lstStyle/>
          <a:p>
            <a:pPr algn="l" marL="0" indent="0" lvl="0">
              <a:lnSpc>
                <a:spcPts val="3359"/>
              </a:lnSpc>
              <a:spcBef>
                <a:spcPct val="0"/>
              </a:spcBef>
            </a:pPr>
            <a:r>
              <a:rPr lang="en-US" b="true" sz="2400">
                <a:solidFill>
                  <a:srgbClr val="AB2609"/>
                </a:solidFill>
                <a:latin typeface="Montaser Arabic Ultra-Bold"/>
                <a:ea typeface="Montaser Arabic Ultra-Bold"/>
                <a:cs typeface="Montaser Arabic Ultra-Bold"/>
                <a:sym typeface="Montaser Arabic Ultra-Bold"/>
              </a:rPr>
              <a:t>Scarlet</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9685887" y="1149668"/>
            <a:ext cx="8052307" cy="8853805"/>
          </a:xfrm>
          <a:prstGeom prst="rect">
            <a:avLst/>
          </a:prstGeom>
        </p:spPr>
        <p:txBody>
          <a:bodyPr anchor="t" rtlCol="false" tIns="0" lIns="0" bIns="0" rIns="0">
            <a:spAutoFit/>
          </a:bodyPr>
          <a:lstStyle/>
          <a:p>
            <a:pPr algn="just">
              <a:lnSpc>
                <a:spcPts val="2940"/>
              </a:lnSpc>
            </a:pPr>
            <a:r>
              <a:rPr lang="en-US" sz="2100" u="sng">
                <a:solidFill>
                  <a:srgbClr val="000000"/>
                </a:solidFill>
                <a:latin typeface="TT Firs Neue"/>
                <a:ea typeface="TT Firs Neue"/>
                <a:cs typeface="TT Firs Neue"/>
                <a:sym typeface="TT Firs Neue"/>
              </a:rPr>
              <a:t>Compensation Plan:</a:t>
            </a:r>
          </a:p>
          <a:p>
            <a:pPr algn="just" marL="431801" indent="-215900" lvl="1">
              <a:lnSpc>
                <a:spcPts val="2800"/>
              </a:lnSpc>
              <a:buFont typeface="Arial"/>
              <a:buChar char="•"/>
            </a:pPr>
            <a:r>
              <a:rPr lang="en-US" sz="2000">
                <a:solidFill>
                  <a:srgbClr val="000000"/>
                </a:solidFill>
                <a:latin typeface="TT Firs Neue"/>
                <a:ea typeface="TT Firs Neue"/>
                <a:cs typeface="TT Firs Neue"/>
                <a:sym typeface="TT Firs Neue"/>
              </a:rPr>
              <a:t>$15.50/hour (competitive with Rutgers on-campus pay)</a:t>
            </a:r>
          </a:p>
          <a:p>
            <a:pPr algn="just" marL="431801" indent="-215900" lvl="1">
              <a:lnSpc>
                <a:spcPts val="2800"/>
              </a:lnSpc>
              <a:buFont typeface="Arial"/>
              <a:buChar char="•"/>
            </a:pPr>
            <a:r>
              <a:rPr lang="en-US" sz="2000">
                <a:solidFill>
                  <a:srgbClr val="000000"/>
                </a:solidFill>
                <a:latin typeface="TT Firs Neue"/>
                <a:ea typeface="TT Firs Neue"/>
                <a:cs typeface="TT Firs Neue"/>
                <a:sym typeface="TT Firs Neue"/>
              </a:rPr>
              <a:t>Free laundry service (employee perk)</a:t>
            </a:r>
          </a:p>
          <a:p>
            <a:pPr algn="just" marL="431801" indent="-215900" lvl="1">
              <a:lnSpc>
                <a:spcPts val="2800"/>
              </a:lnSpc>
              <a:buFont typeface="Arial"/>
              <a:buChar char="•"/>
            </a:pPr>
            <a:r>
              <a:rPr lang="en-US" sz="2000">
                <a:solidFill>
                  <a:srgbClr val="000000"/>
                </a:solidFill>
                <a:latin typeface="TT Firs Neue"/>
                <a:ea typeface="TT Firs Neue"/>
                <a:cs typeface="TT Firs Neue"/>
                <a:sym typeface="TT Firs Neue"/>
              </a:rPr>
              <a:t>V</a:t>
            </a:r>
            <a:r>
              <a:rPr lang="en-US" sz="2000">
                <a:solidFill>
                  <a:srgbClr val="000000"/>
                </a:solidFill>
                <a:latin typeface="TT Firs Neue"/>
                <a:ea typeface="TT Firs Neue"/>
                <a:cs typeface="TT Firs Neue"/>
                <a:sym typeface="TT Firs Neue"/>
              </a:rPr>
              <a:t>olunteer recognition certificates for those working unpaid hours</a:t>
            </a:r>
          </a:p>
          <a:p>
            <a:pPr algn="just" marL="431801" indent="-215900" lvl="1">
              <a:lnSpc>
                <a:spcPts val="2800"/>
              </a:lnSpc>
              <a:buFont typeface="Arial"/>
              <a:buChar char="•"/>
            </a:pPr>
            <a:r>
              <a:rPr lang="en-US" sz="2000">
                <a:solidFill>
                  <a:srgbClr val="000000"/>
                </a:solidFill>
                <a:latin typeface="TT Firs Neue"/>
                <a:ea typeface="TT Firs Neue"/>
                <a:cs typeface="TT Firs Neue"/>
                <a:sym typeface="TT Firs Neue"/>
              </a:rPr>
              <a:t>Incentives: $50 monthly attendance bonus and performance-based rewards for meeting delivery deadlines.</a:t>
            </a:r>
          </a:p>
          <a:p>
            <a:pPr algn="just" marL="431801" indent="-215900" lvl="1">
              <a:lnSpc>
                <a:spcPts val="2800"/>
              </a:lnSpc>
              <a:buFont typeface="Arial"/>
              <a:buChar char="•"/>
            </a:pPr>
            <a:r>
              <a:rPr lang="en-US" sz="2000">
                <a:solidFill>
                  <a:srgbClr val="000000"/>
                </a:solidFill>
                <a:latin typeface="TT Firs Neue"/>
                <a:ea typeface="TT Firs Neue"/>
                <a:cs typeface="TT Firs Neue"/>
                <a:sym typeface="TT Firs Neue"/>
              </a:rPr>
              <a:t>Be</a:t>
            </a:r>
            <a:r>
              <a:rPr lang="en-US" sz="2000">
                <a:solidFill>
                  <a:srgbClr val="000000"/>
                </a:solidFill>
                <a:latin typeface="TT Firs Neue"/>
                <a:ea typeface="TT Firs Neue"/>
                <a:cs typeface="TT Firs Neue"/>
                <a:sym typeface="TT Firs Neue"/>
              </a:rPr>
              <a:t>nefits: Flexible scheduling, free laundry service for personal use, and potential for promotion to Shift Lead.</a:t>
            </a:r>
          </a:p>
          <a:p>
            <a:pPr algn="just">
              <a:lnSpc>
                <a:spcPts val="2800"/>
              </a:lnSpc>
            </a:pPr>
          </a:p>
          <a:p>
            <a:pPr algn="just">
              <a:lnSpc>
                <a:spcPts val="2940"/>
              </a:lnSpc>
            </a:pPr>
            <a:r>
              <a:rPr lang="en-US" sz="2100" u="sng">
                <a:solidFill>
                  <a:srgbClr val="000000"/>
                </a:solidFill>
                <a:latin typeface="TT Firs Neue"/>
                <a:ea typeface="TT Firs Neue"/>
                <a:cs typeface="TT Firs Neue"/>
                <a:sym typeface="TT Firs Neue"/>
              </a:rPr>
              <a:t>Advertising Plan:</a:t>
            </a:r>
          </a:p>
          <a:p>
            <a:pPr algn="just" marL="431801" indent="-215900" lvl="1">
              <a:lnSpc>
                <a:spcPts val="2800"/>
              </a:lnSpc>
              <a:buFont typeface="Arial"/>
              <a:buChar char="•"/>
            </a:pPr>
            <a:r>
              <a:rPr lang="en-US" sz="2000">
                <a:solidFill>
                  <a:srgbClr val="000000"/>
                </a:solidFill>
                <a:latin typeface="TT Firs Neue"/>
                <a:ea typeface="TT Firs Neue"/>
                <a:cs typeface="TT Firs Neue"/>
                <a:sym typeface="TT Firs Neue"/>
              </a:rPr>
              <a:t>Post job listings on Rutgers Handshake, indeed, and Flyers on campus bulletin boards.</a:t>
            </a:r>
          </a:p>
          <a:p>
            <a:pPr algn="just" marL="431801" indent="-215900" lvl="1">
              <a:lnSpc>
                <a:spcPts val="2800"/>
              </a:lnSpc>
              <a:buFont typeface="Arial"/>
              <a:buChar char="•"/>
            </a:pPr>
            <a:r>
              <a:rPr lang="en-US" sz="2000">
                <a:solidFill>
                  <a:srgbClr val="000000"/>
                </a:solidFill>
                <a:latin typeface="TT Firs Neue"/>
                <a:ea typeface="TT Firs Neue"/>
                <a:cs typeface="TT Firs Neue"/>
                <a:sym typeface="TT Firs Neue"/>
              </a:rPr>
              <a:t>Promote on Instagram and Rutgers student group pages.</a:t>
            </a:r>
          </a:p>
          <a:p>
            <a:pPr algn="just" marL="431801" indent="-215900" lvl="1">
              <a:lnSpc>
                <a:spcPts val="2800"/>
              </a:lnSpc>
              <a:buFont typeface="Arial"/>
              <a:buChar char="•"/>
            </a:pPr>
            <a:r>
              <a:rPr lang="en-US" sz="2000">
                <a:solidFill>
                  <a:srgbClr val="000000"/>
                </a:solidFill>
                <a:latin typeface="TT Firs Neue"/>
                <a:ea typeface="TT Firs Neue"/>
                <a:cs typeface="TT Firs Neue"/>
                <a:sym typeface="TT Firs Neue"/>
              </a:rPr>
              <a:t>Offer referral bonuses for current employees who recommend new hires.</a:t>
            </a:r>
          </a:p>
          <a:p>
            <a:pPr algn="just">
              <a:lnSpc>
                <a:spcPts val="2800"/>
              </a:lnSpc>
            </a:pPr>
          </a:p>
          <a:p>
            <a:pPr algn="just">
              <a:lnSpc>
                <a:spcPts val="2940"/>
              </a:lnSpc>
            </a:pPr>
            <a:r>
              <a:rPr lang="en-US" sz="2100" u="sng">
                <a:solidFill>
                  <a:srgbClr val="000000"/>
                </a:solidFill>
                <a:latin typeface="TT Firs Neue"/>
                <a:ea typeface="TT Firs Neue"/>
                <a:cs typeface="TT Firs Neue"/>
                <a:sym typeface="TT Firs Neue"/>
              </a:rPr>
              <a:t>Criteria for selection:</a:t>
            </a:r>
          </a:p>
          <a:p>
            <a:pPr algn="just" marL="431801" indent="-215900" lvl="1">
              <a:lnSpc>
                <a:spcPts val="2800"/>
              </a:lnSpc>
              <a:buFont typeface="Arial"/>
              <a:buChar char="•"/>
            </a:pPr>
            <a:r>
              <a:rPr lang="en-US" sz="2000">
                <a:solidFill>
                  <a:srgbClr val="000000"/>
                </a:solidFill>
                <a:latin typeface="TT Firs Neue"/>
                <a:ea typeface="TT Firs Neue"/>
                <a:cs typeface="TT Firs Neue"/>
                <a:sym typeface="TT Firs Neue"/>
              </a:rPr>
              <a:t>Reliable availability that fits the Scarlet Wash schedule</a:t>
            </a:r>
          </a:p>
          <a:p>
            <a:pPr algn="just" marL="431801" indent="-215900" lvl="1">
              <a:lnSpc>
                <a:spcPts val="2800"/>
              </a:lnSpc>
              <a:buFont typeface="Arial"/>
              <a:buChar char="•"/>
            </a:pPr>
            <a:r>
              <a:rPr lang="en-US" sz="2000">
                <a:solidFill>
                  <a:srgbClr val="000000"/>
                </a:solidFill>
                <a:latin typeface="TT Firs Neue"/>
                <a:ea typeface="TT Firs Neue"/>
                <a:cs typeface="TT Firs Neue"/>
                <a:sym typeface="TT Firs Neue"/>
              </a:rPr>
              <a:t>Demonstrated responsibility and punctuality (references or previous work)</a:t>
            </a:r>
          </a:p>
          <a:p>
            <a:pPr algn="just" marL="431801" indent="-215900" lvl="1">
              <a:lnSpc>
                <a:spcPts val="2800"/>
              </a:lnSpc>
              <a:buFont typeface="Arial"/>
              <a:buChar char="•"/>
            </a:pPr>
            <a:r>
              <a:rPr lang="en-US" sz="2000">
                <a:solidFill>
                  <a:srgbClr val="000000"/>
                </a:solidFill>
                <a:latin typeface="TT Firs Neue"/>
                <a:ea typeface="TT Firs Neue"/>
                <a:cs typeface="TT Firs Neue"/>
                <a:sym typeface="TT Firs Neue"/>
              </a:rPr>
              <a:t>Friendly, service-oriented personality</a:t>
            </a:r>
          </a:p>
          <a:p>
            <a:pPr algn="just" marL="431801" indent="-215900" lvl="1">
              <a:lnSpc>
                <a:spcPts val="2800"/>
              </a:lnSpc>
              <a:buFont typeface="Arial"/>
              <a:buChar char="•"/>
            </a:pPr>
            <a:r>
              <a:rPr lang="en-US" sz="2000">
                <a:solidFill>
                  <a:srgbClr val="000000"/>
                </a:solidFill>
                <a:latin typeface="TT Firs Neue"/>
                <a:ea typeface="TT Firs Neue"/>
                <a:cs typeface="TT Firs Neue"/>
                <a:sym typeface="TT Firs Neue"/>
              </a:rPr>
              <a:t>Interest in community/non-profit work</a:t>
            </a:r>
          </a:p>
          <a:p>
            <a:pPr algn="just">
              <a:lnSpc>
                <a:spcPts val="2800"/>
              </a:lnSpc>
            </a:pPr>
          </a:p>
          <a:p>
            <a:pPr algn="just" marL="0" indent="0" lvl="0">
              <a:lnSpc>
                <a:spcPts val="2800"/>
              </a:lnSpc>
              <a:spcBef>
                <a:spcPct val="0"/>
              </a:spcBef>
            </a:pPr>
          </a:p>
        </p:txBody>
      </p:sp>
      <p:sp>
        <p:nvSpPr>
          <p:cNvPr name="TextBox 3" id="3"/>
          <p:cNvSpPr txBox="true"/>
          <p:nvPr/>
        </p:nvSpPr>
        <p:spPr>
          <a:xfrm rot="0">
            <a:off x="1028700" y="1486222"/>
            <a:ext cx="7318353" cy="1535811"/>
          </a:xfrm>
          <a:prstGeom prst="rect">
            <a:avLst/>
          </a:prstGeom>
        </p:spPr>
        <p:txBody>
          <a:bodyPr anchor="t" rtlCol="false" tIns="0" lIns="0" bIns="0" rIns="0">
            <a:spAutoFit/>
          </a:bodyPr>
          <a:lstStyle/>
          <a:p>
            <a:pPr algn="l">
              <a:lnSpc>
                <a:spcPts val="6192"/>
              </a:lnSpc>
            </a:pPr>
            <a:r>
              <a:rPr lang="en-US" sz="4800" b="true">
                <a:solidFill>
                  <a:srgbClr val="000000"/>
                </a:solidFill>
                <a:latin typeface="Montaser Arabic Bold"/>
                <a:ea typeface="Montaser Arabic Bold"/>
                <a:cs typeface="Montaser Arabic Bold"/>
                <a:sym typeface="Montaser Arabic Bold"/>
              </a:rPr>
              <a:t>Key Job: </a:t>
            </a:r>
          </a:p>
          <a:p>
            <a:pPr algn="ctr" marL="0" indent="0" lvl="0">
              <a:lnSpc>
                <a:spcPts val="6192"/>
              </a:lnSpc>
            </a:pPr>
            <a:r>
              <a:rPr lang="en-US" b="true" sz="4800">
                <a:solidFill>
                  <a:srgbClr val="AB2609"/>
                </a:solidFill>
                <a:latin typeface="Montaser Arabic Bold"/>
                <a:ea typeface="Montaser Arabic Bold"/>
                <a:cs typeface="Montaser Arabic Bold"/>
                <a:sym typeface="Montaser Arabic Bold"/>
              </a:rPr>
              <a:t>Laundry Attendent </a:t>
            </a:r>
          </a:p>
        </p:txBody>
      </p:sp>
      <p:sp>
        <p:nvSpPr>
          <p:cNvPr name="TextBox 4" id="4"/>
          <p:cNvSpPr txBox="true"/>
          <p:nvPr/>
        </p:nvSpPr>
        <p:spPr>
          <a:xfrm rot="0">
            <a:off x="1028700" y="3372846"/>
            <a:ext cx="8269806" cy="6336665"/>
          </a:xfrm>
          <a:prstGeom prst="rect">
            <a:avLst/>
          </a:prstGeom>
        </p:spPr>
        <p:txBody>
          <a:bodyPr anchor="t" rtlCol="false" tIns="0" lIns="0" bIns="0" rIns="0">
            <a:spAutoFit/>
          </a:bodyPr>
          <a:lstStyle/>
          <a:p>
            <a:pPr algn="just">
              <a:lnSpc>
                <a:spcPts val="3079"/>
              </a:lnSpc>
            </a:pPr>
            <a:r>
              <a:rPr lang="en-US" sz="2199" u="sng">
                <a:solidFill>
                  <a:srgbClr val="000000"/>
                </a:solidFill>
                <a:latin typeface="TT Firs Neue"/>
                <a:ea typeface="TT Firs Neue"/>
                <a:cs typeface="TT Firs Neue"/>
                <a:sym typeface="TT Firs Neue"/>
              </a:rPr>
              <a:t>Responsibilities:</a:t>
            </a:r>
          </a:p>
          <a:p>
            <a:pPr algn="just" marL="453390" indent="-226695" lvl="1">
              <a:lnSpc>
                <a:spcPts val="2940"/>
              </a:lnSpc>
              <a:buFont typeface="Arial"/>
              <a:buChar char="•"/>
            </a:pPr>
            <a:r>
              <a:rPr lang="en-US" sz="2100">
                <a:solidFill>
                  <a:srgbClr val="000000"/>
                </a:solidFill>
                <a:latin typeface="TT Firs Neue"/>
                <a:ea typeface="TT Firs Neue"/>
                <a:cs typeface="TT Firs Neue"/>
                <a:sym typeface="TT Firs Neue"/>
              </a:rPr>
              <a:t>Sorting, washing, drying, and folding laundry according to order specifications.</a:t>
            </a:r>
          </a:p>
          <a:p>
            <a:pPr algn="just" marL="453390" indent="-226695" lvl="1">
              <a:lnSpc>
                <a:spcPts val="2940"/>
              </a:lnSpc>
              <a:buFont typeface="Arial"/>
              <a:buChar char="•"/>
            </a:pPr>
            <a:r>
              <a:rPr lang="en-US" sz="2100">
                <a:solidFill>
                  <a:srgbClr val="000000"/>
                </a:solidFill>
                <a:latin typeface="TT Firs Neue"/>
                <a:ea typeface="TT Firs Neue"/>
                <a:cs typeface="TT Firs Neue"/>
                <a:sym typeface="TT Firs Neue"/>
              </a:rPr>
              <a:t>Inspecting clothing for stains or damage before washing.</a:t>
            </a:r>
          </a:p>
          <a:p>
            <a:pPr algn="just" marL="453390" indent="-226695" lvl="1">
              <a:lnSpc>
                <a:spcPts val="2940"/>
              </a:lnSpc>
              <a:buFont typeface="Arial"/>
              <a:buChar char="•"/>
            </a:pPr>
            <a:r>
              <a:rPr lang="en-US" sz="2100">
                <a:solidFill>
                  <a:srgbClr val="000000"/>
                </a:solidFill>
                <a:latin typeface="TT Firs Neue"/>
                <a:ea typeface="TT Firs Neue"/>
                <a:cs typeface="TT Firs Neue"/>
                <a:sym typeface="TT Firs Neue"/>
              </a:rPr>
              <a:t>Maintaining cleanliness and organization of the laundry area.</a:t>
            </a:r>
          </a:p>
          <a:p>
            <a:pPr algn="just" marL="453390" indent="-226695" lvl="1">
              <a:lnSpc>
                <a:spcPts val="2940"/>
              </a:lnSpc>
              <a:buFont typeface="Arial"/>
              <a:buChar char="•"/>
            </a:pPr>
            <a:r>
              <a:rPr lang="en-US" sz="2100">
                <a:solidFill>
                  <a:srgbClr val="000000"/>
                </a:solidFill>
                <a:latin typeface="TT Firs Neue"/>
                <a:ea typeface="TT Firs Neue"/>
                <a:cs typeface="TT Firs Neue"/>
                <a:sym typeface="TT Firs Neue"/>
              </a:rPr>
              <a:t>Folding Clothes that meet our quality standard</a:t>
            </a:r>
          </a:p>
          <a:p>
            <a:pPr algn="just" marL="453390" indent="-226695" lvl="1">
              <a:lnSpc>
                <a:spcPts val="2940"/>
              </a:lnSpc>
              <a:buFont typeface="Arial"/>
              <a:buChar char="•"/>
            </a:pPr>
            <a:r>
              <a:rPr lang="en-US" sz="2100">
                <a:solidFill>
                  <a:srgbClr val="000000"/>
                </a:solidFill>
                <a:latin typeface="TT Firs Neue"/>
                <a:ea typeface="TT Firs Neue"/>
                <a:cs typeface="TT Firs Neue"/>
                <a:sym typeface="TT Firs Neue"/>
              </a:rPr>
              <a:t>Tracking and labeling orders accurately to avoid mixups.</a:t>
            </a:r>
          </a:p>
          <a:p>
            <a:pPr algn="just" marL="453390" indent="-226695" lvl="1">
              <a:lnSpc>
                <a:spcPts val="2940"/>
              </a:lnSpc>
              <a:buFont typeface="Arial"/>
              <a:buChar char="•"/>
            </a:pPr>
            <a:r>
              <a:rPr lang="en-US" sz="2100">
                <a:solidFill>
                  <a:srgbClr val="000000"/>
                </a:solidFill>
                <a:latin typeface="TT Firs Neue"/>
                <a:ea typeface="TT Firs Neue"/>
                <a:cs typeface="TT Firs Neue"/>
                <a:sym typeface="TT Firs Neue"/>
              </a:rPr>
              <a:t>Meet quality and time standards for all laundrybatches.</a:t>
            </a:r>
          </a:p>
          <a:p>
            <a:pPr algn="just">
              <a:lnSpc>
                <a:spcPts val="3079"/>
              </a:lnSpc>
            </a:pPr>
            <a:r>
              <a:rPr lang="en-US" sz="2199" u="sng">
                <a:solidFill>
                  <a:srgbClr val="000000"/>
                </a:solidFill>
                <a:latin typeface="TT Firs Neue"/>
                <a:ea typeface="TT Firs Neue"/>
                <a:cs typeface="TT Firs Neue"/>
                <a:sym typeface="TT Firs Neue"/>
              </a:rPr>
              <a:t>Qualifications Required:</a:t>
            </a:r>
          </a:p>
          <a:p>
            <a:pPr algn="just" marL="453390" indent="-226695" lvl="1">
              <a:lnSpc>
                <a:spcPts val="2940"/>
              </a:lnSpc>
              <a:buFont typeface="Arial"/>
              <a:buChar char="•"/>
            </a:pPr>
            <a:r>
              <a:rPr lang="en-US" sz="2100">
                <a:solidFill>
                  <a:srgbClr val="000000"/>
                </a:solidFill>
                <a:latin typeface="TT Firs Neue"/>
                <a:ea typeface="TT Firs Neue"/>
                <a:cs typeface="TT Firs Neue"/>
                <a:sym typeface="TT Firs Neue"/>
              </a:rPr>
              <a:t>High school diploma or equivalent.</a:t>
            </a:r>
          </a:p>
          <a:p>
            <a:pPr algn="just" marL="453390" indent="-226695" lvl="1">
              <a:lnSpc>
                <a:spcPts val="2940"/>
              </a:lnSpc>
              <a:buFont typeface="Arial"/>
              <a:buChar char="•"/>
            </a:pPr>
            <a:r>
              <a:rPr lang="en-US" sz="2100">
                <a:solidFill>
                  <a:srgbClr val="000000"/>
                </a:solidFill>
                <a:latin typeface="TT Firs Neue"/>
                <a:ea typeface="TT Firs Neue"/>
                <a:cs typeface="TT Firs Neue"/>
                <a:sym typeface="TT Firs Neue"/>
              </a:rPr>
              <a:t>Strong attention to detail and time management.</a:t>
            </a:r>
          </a:p>
          <a:p>
            <a:pPr algn="just" marL="453390" indent="-226695" lvl="1">
              <a:lnSpc>
                <a:spcPts val="2940"/>
              </a:lnSpc>
              <a:buFont typeface="Arial"/>
              <a:buChar char="•"/>
            </a:pPr>
            <a:r>
              <a:rPr lang="en-US" sz="2100">
                <a:solidFill>
                  <a:srgbClr val="000000"/>
                </a:solidFill>
                <a:latin typeface="TT Firs Neue"/>
                <a:ea typeface="TT Firs Neue"/>
                <a:cs typeface="TT Firs Neue"/>
                <a:sym typeface="TT Firs Neue"/>
              </a:rPr>
              <a:t>Basic knowledge of laundry chemicals, machines, and fabric care.</a:t>
            </a:r>
          </a:p>
          <a:p>
            <a:pPr algn="just" marL="453390" indent="-226695" lvl="1">
              <a:lnSpc>
                <a:spcPts val="2940"/>
              </a:lnSpc>
              <a:buFont typeface="Arial"/>
              <a:buChar char="•"/>
            </a:pPr>
            <a:r>
              <a:rPr lang="en-US" sz="2100">
                <a:solidFill>
                  <a:srgbClr val="000000"/>
                </a:solidFill>
                <a:latin typeface="TT Firs Neue"/>
                <a:ea typeface="TT Firs Neue"/>
                <a:cs typeface="TT Firs Neue"/>
                <a:sym typeface="TT Firs Neue"/>
              </a:rPr>
              <a:t>Ability to lift up to 50 lbs and work in a fast paced environment.</a:t>
            </a:r>
          </a:p>
          <a:p>
            <a:pPr algn="just" marL="453390" indent="-226695" lvl="1">
              <a:lnSpc>
                <a:spcPts val="2940"/>
              </a:lnSpc>
              <a:buFont typeface="Arial"/>
              <a:buChar char="•"/>
            </a:pPr>
            <a:r>
              <a:rPr lang="en-US" sz="2100">
                <a:solidFill>
                  <a:srgbClr val="000000"/>
                </a:solidFill>
                <a:latin typeface="TT Firs Neue"/>
                <a:ea typeface="TT Firs Neue"/>
                <a:cs typeface="TT Firs Neue"/>
                <a:sym typeface="TT Firs Neue"/>
              </a:rPr>
              <a:t>Prior experience in laundry or housekeeping preferred.</a:t>
            </a:r>
          </a:p>
          <a:p>
            <a:pPr algn="just" marL="0" indent="0" lvl="0">
              <a:lnSpc>
                <a:spcPts val="2940"/>
              </a:lnSpc>
              <a:spcBef>
                <a:spcPct val="0"/>
              </a:spcBef>
            </a:pPr>
          </a:p>
        </p:txBody>
      </p:sp>
      <p:sp>
        <p:nvSpPr>
          <p:cNvPr name="TextBox 5" id="5"/>
          <p:cNvSpPr txBox="true"/>
          <p:nvPr/>
        </p:nvSpPr>
        <p:spPr>
          <a:xfrm rot="0">
            <a:off x="2163395" y="970598"/>
            <a:ext cx="1766005" cy="396240"/>
          </a:xfrm>
          <a:prstGeom prst="rect">
            <a:avLst/>
          </a:prstGeom>
        </p:spPr>
        <p:txBody>
          <a:bodyPr anchor="t" rtlCol="false" tIns="0" lIns="0" bIns="0" rIns="0">
            <a:spAutoFit/>
          </a:bodyPr>
          <a:lstStyle/>
          <a:p>
            <a:pPr algn="l" marL="0" indent="0" lvl="0">
              <a:lnSpc>
                <a:spcPts val="3359"/>
              </a:lnSpc>
              <a:spcBef>
                <a:spcPct val="0"/>
              </a:spcBef>
            </a:pPr>
            <a:r>
              <a:rPr lang="en-US" b="true" sz="2400">
                <a:solidFill>
                  <a:srgbClr val="000000"/>
                </a:solidFill>
                <a:latin typeface="Montaser Arabic Ultra-Bold"/>
                <a:ea typeface="Montaser Arabic Ultra-Bold"/>
                <a:cs typeface="Montaser Arabic Ultra-Bold"/>
                <a:sym typeface="Montaser Arabic Ultra-Bold"/>
              </a:rPr>
              <a:t>Wash</a:t>
            </a:r>
          </a:p>
        </p:txBody>
      </p:sp>
      <p:sp>
        <p:nvSpPr>
          <p:cNvPr name="TextBox 6" id="6"/>
          <p:cNvSpPr txBox="true"/>
          <p:nvPr/>
        </p:nvSpPr>
        <p:spPr>
          <a:xfrm rot="0">
            <a:off x="1028700" y="970598"/>
            <a:ext cx="1583559" cy="396240"/>
          </a:xfrm>
          <a:prstGeom prst="rect">
            <a:avLst/>
          </a:prstGeom>
        </p:spPr>
        <p:txBody>
          <a:bodyPr anchor="t" rtlCol="false" tIns="0" lIns="0" bIns="0" rIns="0">
            <a:spAutoFit/>
          </a:bodyPr>
          <a:lstStyle/>
          <a:p>
            <a:pPr algn="l" marL="0" indent="0" lvl="0">
              <a:lnSpc>
                <a:spcPts val="3359"/>
              </a:lnSpc>
              <a:spcBef>
                <a:spcPct val="0"/>
              </a:spcBef>
            </a:pPr>
            <a:r>
              <a:rPr lang="en-US" b="true" sz="2400">
                <a:solidFill>
                  <a:srgbClr val="AB2609"/>
                </a:solidFill>
                <a:latin typeface="Montaser Arabic Ultra-Bold"/>
                <a:ea typeface="Montaser Arabic Ultra-Bold"/>
                <a:cs typeface="Montaser Arabic Ultra-Bold"/>
                <a:sym typeface="Montaser Arabic Ultra-Bold"/>
              </a:rPr>
              <a:t>Scarlet</a:t>
            </a:r>
          </a:p>
        </p:txBody>
      </p:sp>
      <p:sp>
        <p:nvSpPr>
          <p:cNvPr name="Freeform 7" id="7"/>
          <p:cNvSpPr/>
          <p:nvPr/>
        </p:nvSpPr>
        <p:spPr>
          <a:xfrm flipH="true" flipV="false" rot="-185696">
            <a:off x="3410886" y="-549870"/>
            <a:ext cx="6005430" cy="2632631"/>
          </a:xfrm>
          <a:custGeom>
            <a:avLst/>
            <a:gdLst/>
            <a:ahLst/>
            <a:cxnLst/>
            <a:rect r="r" b="b" t="t" l="l"/>
            <a:pathLst>
              <a:path h="2632631" w="6005430">
                <a:moveTo>
                  <a:pt x="6005430" y="0"/>
                </a:moveTo>
                <a:lnTo>
                  <a:pt x="0" y="0"/>
                </a:lnTo>
                <a:lnTo>
                  <a:pt x="0" y="2632630"/>
                </a:lnTo>
                <a:lnTo>
                  <a:pt x="6005430" y="2632630"/>
                </a:lnTo>
                <a:lnTo>
                  <a:pt x="6005430" y="0"/>
                </a:lnTo>
                <a:close/>
              </a:path>
            </a:pathLst>
          </a:custGeom>
          <a:blipFill>
            <a:blip r:embed="rId2">
              <a:extLst>
                <a:ext uri="{96DAC541-7B7A-43D3-8B79-37D633B846F1}">
                  <asvg:svgBlip xmlns:asvg="http://schemas.microsoft.com/office/drawing/2016/SVG/main" r:embed="rId3"/>
                </a:ext>
              </a:extLst>
            </a:blip>
            <a:stretch>
              <a:fillRect l="-14692" t="0" r="-14241" b="0"/>
            </a:stretch>
          </a:blipFill>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665414" y="2890486"/>
            <a:ext cx="16593886" cy="6554063"/>
          </a:xfrm>
          <a:prstGeom prst="rect">
            <a:avLst/>
          </a:prstGeom>
        </p:spPr>
        <p:txBody>
          <a:bodyPr anchor="t" rtlCol="false" tIns="0" lIns="0" bIns="0" rIns="0">
            <a:spAutoFit/>
          </a:bodyPr>
          <a:lstStyle/>
          <a:p>
            <a:pPr algn="l" marL="478438" indent="-239219" lvl="1">
              <a:lnSpc>
                <a:spcPts val="3102"/>
              </a:lnSpc>
              <a:buFont typeface="Arial"/>
              <a:buChar char="•"/>
            </a:pPr>
            <a:r>
              <a:rPr lang="en-US" sz="2216">
                <a:solidFill>
                  <a:srgbClr val="000000"/>
                </a:solidFill>
                <a:latin typeface="TT Firs Neue"/>
                <a:ea typeface="TT Firs Neue"/>
                <a:cs typeface="TT Firs Neue"/>
                <a:sym typeface="TT Firs Neue"/>
              </a:rPr>
              <a:t>We will introduce an </a:t>
            </a:r>
            <a:r>
              <a:rPr lang="en-US" b="true" sz="2216">
                <a:solidFill>
                  <a:srgbClr val="000000"/>
                </a:solidFill>
                <a:latin typeface="TT Firs Neue Bold"/>
                <a:ea typeface="TT Firs Neue Bold"/>
                <a:cs typeface="TT Firs Neue Bold"/>
                <a:sym typeface="TT Firs Neue Bold"/>
              </a:rPr>
              <a:t>Employee of the Month program</a:t>
            </a:r>
            <a:r>
              <a:rPr lang="en-US" sz="2216">
                <a:solidFill>
                  <a:srgbClr val="000000"/>
                </a:solidFill>
                <a:latin typeface="TT Firs Neue"/>
                <a:ea typeface="TT Firs Neue"/>
                <a:cs typeface="TT Firs Neue"/>
                <a:sym typeface="TT Firs Neue"/>
              </a:rPr>
              <a:t> to highlight great work. Each month, one team member will be recognized for reliability, teamwork, or excellent service. The winner will receive a small reward such as a Rutgers dining gift card or a local cafe voucher. This program will help employees feel appreciated for their effort and commitment. </a:t>
            </a:r>
          </a:p>
          <a:p>
            <a:pPr algn="l">
              <a:lnSpc>
                <a:spcPts val="1422"/>
              </a:lnSpc>
            </a:pPr>
          </a:p>
          <a:p>
            <a:pPr algn="l" marL="478438" indent="-239219" lvl="1">
              <a:lnSpc>
                <a:spcPts val="3102"/>
              </a:lnSpc>
              <a:buFont typeface="Arial"/>
              <a:buChar char="•"/>
            </a:pPr>
            <a:r>
              <a:rPr lang="en-US" sz="2216">
                <a:solidFill>
                  <a:srgbClr val="000000"/>
                </a:solidFill>
                <a:latin typeface="TT Firs Neue"/>
                <a:ea typeface="TT Firs Neue"/>
                <a:cs typeface="TT Firs Neue"/>
                <a:sym typeface="TT Firs Neue"/>
              </a:rPr>
              <a:t>Since most employees are students, Scarlet Wash will be</a:t>
            </a:r>
            <a:r>
              <a:rPr lang="en-US" b="true" sz="2216">
                <a:solidFill>
                  <a:srgbClr val="000000"/>
                </a:solidFill>
                <a:latin typeface="TT Firs Neue Bold"/>
                <a:ea typeface="TT Firs Neue Bold"/>
                <a:cs typeface="TT Firs Neue Bold"/>
                <a:sym typeface="TT Firs Neue Bold"/>
              </a:rPr>
              <a:t> flexible in scheduling shifts </a:t>
            </a:r>
            <a:r>
              <a:rPr lang="en-US" sz="2216">
                <a:solidFill>
                  <a:srgbClr val="000000"/>
                </a:solidFill>
                <a:latin typeface="TT Firs Neue"/>
                <a:ea typeface="TT Firs Neue"/>
                <a:cs typeface="TT Firs Neue"/>
                <a:sym typeface="TT Firs Neue"/>
              </a:rPr>
              <a:t>to support the variety of class schedules employees may have. This approach will reduce stress, improve work satisfaction, and allow everyone to perform at their best without having to sacrifice academic priorities</a:t>
            </a:r>
          </a:p>
          <a:p>
            <a:pPr algn="l">
              <a:lnSpc>
                <a:spcPts val="1427"/>
              </a:lnSpc>
            </a:pPr>
          </a:p>
          <a:p>
            <a:pPr algn="l" marL="478438" indent="-239219" lvl="1">
              <a:lnSpc>
                <a:spcPts val="3102"/>
              </a:lnSpc>
              <a:buFont typeface="Arial"/>
              <a:buChar char="•"/>
            </a:pPr>
            <a:r>
              <a:rPr lang="en-US" sz="2216">
                <a:solidFill>
                  <a:srgbClr val="000000"/>
                </a:solidFill>
                <a:latin typeface="TT Firs Neue"/>
                <a:ea typeface="TT Firs Neue"/>
                <a:cs typeface="TT Firs Neue"/>
                <a:sym typeface="TT Firs Neue"/>
              </a:rPr>
              <a:t>Scarlet Wash will begin </a:t>
            </a:r>
            <a:r>
              <a:rPr lang="en-US" b="true" sz="2216">
                <a:solidFill>
                  <a:srgbClr val="000000"/>
                </a:solidFill>
                <a:latin typeface="TT Firs Neue Bold"/>
                <a:ea typeface="TT Firs Neue Bold"/>
                <a:cs typeface="TT Firs Neue Bold"/>
                <a:sym typeface="TT Firs Neue Bold"/>
              </a:rPr>
              <a:t>short training sessions</a:t>
            </a:r>
            <a:r>
              <a:rPr lang="en-US" sz="2216">
                <a:solidFill>
                  <a:srgbClr val="000000"/>
                </a:solidFill>
                <a:latin typeface="TT Firs Neue"/>
                <a:ea typeface="TT Firs Neue"/>
                <a:cs typeface="TT Firs Neue"/>
                <a:sym typeface="TT Firs Neue"/>
              </a:rPr>
              <a:t> focused on customer service, time management, and proper equipment use. These sessions will help employees gain practical skills that can be applied in future jobs while also improving the overall quality of work.</a:t>
            </a:r>
          </a:p>
          <a:p>
            <a:pPr algn="l">
              <a:lnSpc>
                <a:spcPts val="1427"/>
              </a:lnSpc>
            </a:pPr>
          </a:p>
          <a:p>
            <a:pPr algn="l" marL="478438" indent="-239219" lvl="1">
              <a:lnSpc>
                <a:spcPts val="3102"/>
              </a:lnSpc>
              <a:buFont typeface="Arial"/>
              <a:buChar char="•"/>
            </a:pPr>
            <a:r>
              <a:rPr lang="en-US" sz="2216">
                <a:solidFill>
                  <a:srgbClr val="000000"/>
                </a:solidFill>
                <a:latin typeface="TT Firs Neue"/>
                <a:ea typeface="TT Firs Neue"/>
                <a:cs typeface="TT Firs Neue"/>
                <a:sym typeface="TT Firs Neue"/>
              </a:rPr>
              <a:t>Scarlet Wash will hold </a:t>
            </a:r>
            <a:r>
              <a:rPr lang="en-US" b="true" sz="2216">
                <a:solidFill>
                  <a:srgbClr val="000000"/>
                </a:solidFill>
                <a:latin typeface="TT Firs Neue Bold"/>
                <a:ea typeface="TT Firs Neue Bold"/>
                <a:cs typeface="TT Firs Neue Bold"/>
                <a:sym typeface="TT Firs Neue Bold"/>
              </a:rPr>
              <a:t>casual team gatherings</a:t>
            </a:r>
            <a:r>
              <a:rPr lang="en-US" sz="2216">
                <a:solidFill>
                  <a:srgbClr val="000000"/>
                </a:solidFill>
                <a:latin typeface="TT Firs Neue"/>
                <a:ea typeface="TT Firs Neue"/>
                <a:cs typeface="TT Firs Neue"/>
                <a:sym typeface="TT Firs Neue"/>
              </a:rPr>
              <a:t> each month such as pizza nights or study breaks. These events will give everyone a chance to connect and share feedback, as well as serve to strengthen the sense of community within the workplace.</a:t>
            </a:r>
          </a:p>
          <a:p>
            <a:pPr algn="l">
              <a:lnSpc>
                <a:spcPts val="1427"/>
              </a:lnSpc>
            </a:pPr>
          </a:p>
          <a:p>
            <a:pPr algn="l" marL="478438" indent="-239219" lvl="1">
              <a:lnSpc>
                <a:spcPts val="3102"/>
              </a:lnSpc>
              <a:buFont typeface="Arial"/>
              <a:buChar char="•"/>
            </a:pPr>
            <a:r>
              <a:rPr lang="en-US" sz="2216">
                <a:solidFill>
                  <a:srgbClr val="000000"/>
                </a:solidFill>
                <a:latin typeface="TT Firs Neue"/>
                <a:ea typeface="TT Firs Neue"/>
                <a:cs typeface="TT Firs Neue"/>
                <a:sym typeface="TT Firs Neue"/>
              </a:rPr>
              <a:t>Employees who consistently meet or exceed expectations will be eligible for small </a:t>
            </a:r>
            <a:r>
              <a:rPr lang="en-US" b="true" sz="2216">
                <a:solidFill>
                  <a:srgbClr val="000000"/>
                </a:solidFill>
                <a:latin typeface="TT Firs Neue Bold"/>
                <a:ea typeface="TT Firs Neue Bold"/>
                <a:cs typeface="TT Firs Neue Bold"/>
                <a:sym typeface="TT Firs Neue Bold"/>
              </a:rPr>
              <a:t>bonuses</a:t>
            </a:r>
            <a:r>
              <a:rPr lang="en-US" sz="2216">
                <a:solidFill>
                  <a:srgbClr val="000000"/>
                </a:solidFill>
                <a:latin typeface="TT Firs Neue"/>
                <a:ea typeface="TT Firs Neue"/>
                <a:cs typeface="TT Firs Neue"/>
                <a:sym typeface="TT Firs Neue"/>
              </a:rPr>
              <a:t> or recognition. These rewards will encourage strong performance and increase the sense of responsibility employees have in maintaining the quality and reputation of Scarlet Wash.</a:t>
            </a:r>
          </a:p>
        </p:txBody>
      </p:sp>
      <p:sp>
        <p:nvSpPr>
          <p:cNvPr name="Freeform 3" id="3"/>
          <p:cNvSpPr/>
          <p:nvPr/>
        </p:nvSpPr>
        <p:spPr>
          <a:xfrm flipH="false" flipV="false" rot="819716">
            <a:off x="11542141" y="129634"/>
            <a:ext cx="2920436" cy="2474406"/>
          </a:xfrm>
          <a:custGeom>
            <a:avLst/>
            <a:gdLst/>
            <a:ahLst/>
            <a:cxnLst/>
            <a:rect r="r" b="b" t="t" l="l"/>
            <a:pathLst>
              <a:path h="2474406" w="2920436">
                <a:moveTo>
                  <a:pt x="0" y="0"/>
                </a:moveTo>
                <a:lnTo>
                  <a:pt x="2920436" y="0"/>
                </a:lnTo>
                <a:lnTo>
                  <a:pt x="2920436" y="2474407"/>
                </a:lnTo>
                <a:lnTo>
                  <a:pt x="0" y="247440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1028700" y="1486222"/>
            <a:ext cx="16621650" cy="754761"/>
          </a:xfrm>
          <a:prstGeom prst="rect">
            <a:avLst/>
          </a:prstGeom>
        </p:spPr>
        <p:txBody>
          <a:bodyPr anchor="t" rtlCol="false" tIns="0" lIns="0" bIns="0" rIns="0">
            <a:spAutoFit/>
          </a:bodyPr>
          <a:lstStyle/>
          <a:p>
            <a:pPr algn="l" marL="0" indent="0" lvl="0">
              <a:lnSpc>
                <a:spcPts val="6192"/>
              </a:lnSpc>
            </a:pPr>
            <a:r>
              <a:rPr lang="en-US" b="true" sz="4800">
                <a:solidFill>
                  <a:srgbClr val="AB2609"/>
                </a:solidFill>
                <a:latin typeface="Montaser Arabic Bold"/>
                <a:ea typeface="Montaser Arabic Bold"/>
                <a:cs typeface="Montaser Arabic Bold"/>
                <a:sym typeface="Montaser Arabic Bold"/>
              </a:rPr>
              <a:t>Employee Motivation Initiatives</a:t>
            </a:r>
          </a:p>
        </p:txBody>
      </p:sp>
      <p:sp>
        <p:nvSpPr>
          <p:cNvPr name="TextBox 5" id="5"/>
          <p:cNvSpPr txBox="true"/>
          <p:nvPr/>
        </p:nvSpPr>
        <p:spPr>
          <a:xfrm rot="0">
            <a:off x="2163395" y="970598"/>
            <a:ext cx="1766005" cy="396240"/>
          </a:xfrm>
          <a:prstGeom prst="rect">
            <a:avLst/>
          </a:prstGeom>
        </p:spPr>
        <p:txBody>
          <a:bodyPr anchor="t" rtlCol="false" tIns="0" lIns="0" bIns="0" rIns="0">
            <a:spAutoFit/>
          </a:bodyPr>
          <a:lstStyle/>
          <a:p>
            <a:pPr algn="l" marL="0" indent="0" lvl="0">
              <a:lnSpc>
                <a:spcPts val="3359"/>
              </a:lnSpc>
              <a:spcBef>
                <a:spcPct val="0"/>
              </a:spcBef>
            </a:pPr>
            <a:r>
              <a:rPr lang="en-US" b="true" sz="2400">
                <a:solidFill>
                  <a:srgbClr val="000000"/>
                </a:solidFill>
                <a:latin typeface="Montaser Arabic Ultra-Bold"/>
                <a:ea typeface="Montaser Arabic Ultra-Bold"/>
                <a:cs typeface="Montaser Arabic Ultra-Bold"/>
                <a:sym typeface="Montaser Arabic Ultra-Bold"/>
              </a:rPr>
              <a:t>Wash</a:t>
            </a:r>
          </a:p>
        </p:txBody>
      </p:sp>
      <p:sp>
        <p:nvSpPr>
          <p:cNvPr name="TextBox 6" id="6"/>
          <p:cNvSpPr txBox="true"/>
          <p:nvPr/>
        </p:nvSpPr>
        <p:spPr>
          <a:xfrm rot="0">
            <a:off x="1028700" y="970598"/>
            <a:ext cx="1583559" cy="396240"/>
          </a:xfrm>
          <a:prstGeom prst="rect">
            <a:avLst/>
          </a:prstGeom>
        </p:spPr>
        <p:txBody>
          <a:bodyPr anchor="t" rtlCol="false" tIns="0" lIns="0" bIns="0" rIns="0">
            <a:spAutoFit/>
          </a:bodyPr>
          <a:lstStyle/>
          <a:p>
            <a:pPr algn="l" marL="0" indent="0" lvl="0">
              <a:lnSpc>
                <a:spcPts val="3359"/>
              </a:lnSpc>
              <a:spcBef>
                <a:spcPct val="0"/>
              </a:spcBef>
            </a:pPr>
            <a:r>
              <a:rPr lang="en-US" b="true" sz="2400">
                <a:solidFill>
                  <a:srgbClr val="AB2609"/>
                </a:solidFill>
                <a:latin typeface="Montaser Arabic Ultra-Bold"/>
                <a:ea typeface="Montaser Arabic Ultra-Bold"/>
                <a:cs typeface="Montaser Arabic Ultra-Bold"/>
                <a:sym typeface="Montaser Arabic Ultra-Bold"/>
              </a:rPr>
              <a:t>Scarlet</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028700" y="2355283"/>
            <a:ext cx="16621650" cy="7587026"/>
          </a:xfrm>
          <a:prstGeom prst="rect">
            <a:avLst/>
          </a:prstGeom>
        </p:spPr>
        <p:txBody>
          <a:bodyPr anchor="t" rtlCol="false" tIns="0" lIns="0" bIns="0" rIns="0">
            <a:spAutoFit/>
          </a:bodyPr>
          <a:lstStyle/>
          <a:p>
            <a:pPr algn="just">
              <a:lnSpc>
                <a:spcPts val="2867"/>
              </a:lnSpc>
            </a:pPr>
            <a:r>
              <a:rPr lang="en-US" sz="2048">
                <a:solidFill>
                  <a:srgbClr val="000000"/>
                </a:solidFill>
                <a:latin typeface="TT Firs Neue"/>
                <a:ea typeface="TT Firs Neue"/>
                <a:cs typeface="TT Firs Neue"/>
                <a:sym typeface="TT Firs Neue"/>
              </a:rPr>
              <a:t>Subject: Strengthening Our Team</a:t>
            </a:r>
          </a:p>
          <a:p>
            <a:pPr algn="just">
              <a:lnSpc>
                <a:spcPts val="2867"/>
              </a:lnSpc>
            </a:pPr>
            <a:r>
              <a:rPr lang="en-US" sz="2048">
                <a:solidFill>
                  <a:srgbClr val="000000"/>
                </a:solidFill>
                <a:latin typeface="TT Firs Neue"/>
                <a:ea typeface="TT Firs Neue"/>
                <a:cs typeface="TT Firs Neue"/>
                <a:sym typeface="TT Firs Neue"/>
              </a:rPr>
              <a:t>Dear Scarlet Wash Team, </a:t>
            </a:r>
          </a:p>
          <a:p>
            <a:pPr algn="just">
              <a:lnSpc>
                <a:spcPts val="2867"/>
              </a:lnSpc>
            </a:pPr>
          </a:p>
          <a:p>
            <a:pPr algn="just">
              <a:lnSpc>
                <a:spcPts val="2867"/>
              </a:lnSpc>
            </a:pPr>
            <a:r>
              <a:rPr lang="en-US" sz="2048">
                <a:solidFill>
                  <a:srgbClr val="000000"/>
                </a:solidFill>
                <a:latin typeface="TT Firs Neue"/>
                <a:ea typeface="TT Firs Neue"/>
                <a:cs typeface="TT Firs Neue"/>
                <a:sym typeface="TT Firs Neue"/>
              </a:rPr>
              <a:t>           We </a:t>
            </a:r>
            <a:r>
              <a:rPr lang="en-US" sz="2048">
                <a:solidFill>
                  <a:srgbClr val="000000"/>
                </a:solidFill>
                <a:latin typeface="TT Firs Neue"/>
                <a:ea typeface="TT Firs Neue"/>
                <a:cs typeface="TT Firs Neue"/>
                <a:sym typeface="TT Firs Neue"/>
              </a:rPr>
              <a:t>want to take a moment to share that two of our team members have decided to step away from their positions effective immediately. </a:t>
            </a:r>
            <a:r>
              <a:rPr lang="en-US" sz="2048">
                <a:solidFill>
                  <a:srgbClr val="000000"/>
                </a:solidFill>
                <a:latin typeface="TT Firs Neue"/>
                <a:ea typeface="TT Firs Neue"/>
                <a:cs typeface="TT Firs Neue"/>
                <a:sym typeface="TT Firs Neue"/>
              </a:rPr>
              <a:t>As a management team, we recognize that this is on us — we could have done more to support and engage everyone, and we take full responsibility for learning and improving from this.</a:t>
            </a:r>
          </a:p>
          <a:p>
            <a:pPr algn="just">
              <a:lnSpc>
                <a:spcPts val="2867"/>
              </a:lnSpc>
            </a:pPr>
            <a:r>
              <a:rPr lang="en-US" sz="2048">
                <a:solidFill>
                  <a:srgbClr val="000000"/>
                </a:solidFill>
                <a:latin typeface="TT Firs Neue"/>
                <a:ea typeface="TT Firs Neue"/>
                <a:cs typeface="TT Firs Neue"/>
                <a:sym typeface="TT Firs Neue"/>
              </a:rPr>
              <a:t>         While their departures were unexpected, we respect their decisions and wish them the best moving forward. This moment reminds us how important it is to maintain an engaging, supportive, and motivating environment for everyone here. After reviewing internally with our executive staff. To strengthen our team culture and ensure every member feels valued, we’re implementing a few new initiatives starting this month:</a:t>
            </a:r>
          </a:p>
          <a:p>
            <a:pPr algn="just" marL="442204" indent="-221102" lvl="1">
              <a:lnSpc>
                <a:spcPts val="2867"/>
              </a:lnSpc>
              <a:buFont typeface="Arial"/>
              <a:buChar char="•"/>
            </a:pPr>
            <a:r>
              <a:rPr lang="en-US" sz="2048">
                <a:solidFill>
                  <a:srgbClr val="000000"/>
                </a:solidFill>
                <a:latin typeface="TT Firs Neue"/>
                <a:ea typeface="TT Firs Neue"/>
                <a:cs typeface="TT Firs Neue"/>
                <a:sym typeface="TT Firs Neue"/>
              </a:rPr>
              <a:t>“Laundry Leader of the Month” recognition program to celebrate your hard work and give you a bonus. </a:t>
            </a:r>
          </a:p>
          <a:p>
            <a:pPr algn="just" marL="442204" indent="-221102" lvl="1">
              <a:lnSpc>
                <a:spcPts val="2867"/>
              </a:lnSpc>
              <a:buFont typeface="Arial"/>
              <a:buChar char="•"/>
            </a:pPr>
            <a:r>
              <a:rPr lang="en-US" sz="2048">
                <a:solidFill>
                  <a:srgbClr val="000000"/>
                </a:solidFill>
                <a:latin typeface="TT Firs Neue"/>
                <a:ea typeface="TT Firs Neue"/>
                <a:cs typeface="TT Firs Neue"/>
                <a:sym typeface="TT Firs Neue"/>
              </a:rPr>
              <a:t>Flexible scheduling options to help balance work and academics.</a:t>
            </a:r>
          </a:p>
          <a:p>
            <a:pPr algn="just" marL="442204" indent="-221102" lvl="1">
              <a:lnSpc>
                <a:spcPts val="2867"/>
              </a:lnSpc>
              <a:buFont typeface="Arial"/>
              <a:buChar char="•"/>
            </a:pPr>
            <a:r>
              <a:rPr lang="en-US" sz="2048">
                <a:solidFill>
                  <a:srgbClr val="000000"/>
                </a:solidFill>
                <a:latin typeface="TT Firs Neue"/>
                <a:ea typeface="TT Firs Neue"/>
                <a:cs typeface="TT Firs Neue"/>
                <a:sym typeface="TT Firs Neue"/>
              </a:rPr>
              <a:t>Free laundry benefits and small perks during longer shifts.</a:t>
            </a:r>
          </a:p>
          <a:p>
            <a:pPr algn="just" marL="442204" indent="-221102" lvl="1">
              <a:lnSpc>
                <a:spcPts val="2867"/>
              </a:lnSpc>
              <a:buFont typeface="Arial"/>
              <a:buChar char="•"/>
            </a:pPr>
            <a:r>
              <a:rPr lang="en-US" sz="2048">
                <a:solidFill>
                  <a:srgbClr val="000000"/>
                </a:solidFill>
                <a:latin typeface="TT Firs Neue"/>
                <a:ea typeface="TT Firs Neue"/>
                <a:cs typeface="TT Firs Neue"/>
                <a:sym typeface="TT Firs Neue"/>
              </a:rPr>
              <a:t>Monthly team meetings for open feedback and ideas.</a:t>
            </a:r>
          </a:p>
          <a:p>
            <a:pPr algn="just" marL="442204" indent="-221102" lvl="1">
              <a:lnSpc>
                <a:spcPts val="2867"/>
              </a:lnSpc>
              <a:buFont typeface="Arial"/>
              <a:buChar char="•"/>
            </a:pPr>
            <a:r>
              <a:rPr lang="en-US" sz="2048">
                <a:solidFill>
                  <a:srgbClr val="000000"/>
                </a:solidFill>
                <a:latin typeface="TT Firs Neue"/>
                <a:ea typeface="TT Firs Neue"/>
                <a:cs typeface="TT Firs Neue"/>
                <a:sym typeface="TT Firs Neue"/>
              </a:rPr>
              <a:t>Access to leadership and volunteer credit opportunities at Rutgers.</a:t>
            </a:r>
          </a:p>
          <a:p>
            <a:pPr algn="just">
              <a:lnSpc>
                <a:spcPts val="2867"/>
              </a:lnSpc>
            </a:pPr>
            <a:r>
              <a:rPr lang="en-US" sz="2048">
                <a:solidFill>
                  <a:srgbClr val="000000"/>
                </a:solidFill>
                <a:latin typeface="TT Firs Neue"/>
                <a:ea typeface="TT Firs Neue"/>
                <a:cs typeface="TT Firs Neue"/>
                <a:sym typeface="TT Firs Neue"/>
              </a:rPr>
              <a:t>We’re deeply grateful for everything you do to make our non-profit successful and meaningful. Our mission has always been about community and that starts with the people who make it run every day.</a:t>
            </a:r>
          </a:p>
          <a:p>
            <a:pPr algn="just">
              <a:lnSpc>
                <a:spcPts val="2867"/>
              </a:lnSpc>
            </a:pPr>
            <a:r>
              <a:rPr lang="en-US" sz="2048">
                <a:solidFill>
                  <a:srgbClr val="000000"/>
                </a:solidFill>
                <a:latin typeface="TT Firs Neue"/>
                <a:ea typeface="TT Firs Neue"/>
                <a:cs typeface="TT Firs Neue"/>
                <a:sym typeface="TT Firs Neue"/>
              </a:rPr>
              <a:t>Thank you for your dedication, and let’s keep building something positive together.</a:t>
            </a:r>
          </a:p>
          <a:p>
            <a:pPr algn="just">
              <a:lnSpc>
                <a:spcPts val="2867"/>
              </a:lnSpc>
            </a:pPr>
          </a:p>
          <a:p>
            <a:pPr algn="just">
              <a:lnSpc>
                <a:spcPts val="2867"/>
              </a:lnSpc>
            </a:pPr>
            <a:r>
              <a:rPr lang="en-US" sz="2048">
                <a:solidFill>
                  <a:srgbClr val="000000"/>
                </a:solidFill>
                <a:latin typeface="TT Firs Neue"/>
                <a:ea typeface="TT Firs Neue"/>
                <a:cs typeface="TT Firs Neue"/>
                <a:sym typeface="TT Firs Neue"/>
              </a:rPr>
              <a:t>Warm regards,</a:t>
            </a:r>
          </a:p>
          <a:p>
            <a:pPr algn="just" marL="0" indent="0" lvl="0">
              <a:lnSpc>
                <a:spcPts val="2867"/>
              </a:lnSpc>
              <a:spcBef>
                <a:spcPct val="0"/>
              </a:spcBef>
            </a:pPr>
            <a:r>
              <a:rPr lang="en-US" sz="2048">
                <a:solidFill>
                  <a:srgbClr val="000000"/>
                </a:solidFill>
                <a:latin typeface="TT Firs Neue"/>
                <a:ea typeface="TT Firs Neue"/>
                <a:cs typeface="TT Firs Neue"/>
                <a:sym typeface="TT Firs Neue"/>
              </a:rPr>
              <a:t>Your Operations Managers</a:t>
            </a:r>
          </a:p>
        </p:txBody>
      </p:sp>
      <p:sp>
        <p:nvSpPr>
          <p:cNvPr name="Freeform 3" id="3"/>
          <p:cNvSpPr/>
          <p:nvPr/>
        </p:nvSpPr>
        <p:spPr>
          <a:xfrm flipH="false" flipV="false" rot="0">
            <a:off x="13729802" y="760713"/>
            <a:ext cx="4096319" cy="2234356"/>
          </a:xfrm>
          <a:custGeom>
            <a:avLst/>
            <a:gdLst/>
            <a:ahLst/>
            <a:cxnLst/>
            <a:rect r="r" b="b" t="t" l="l"/>
            <a:pathLst>
              <a:path h="2234356" w="4096319">
                <a:moveTo>
                  <a:pt x="0" y="0"/>
                </a:moveTo>
                <a:lnTo>
                  <a:pt x="4096319" y="0"/>
                </a:lnTo>
                <a:lnTo>
                  <a:pt x="4096319" y="2234355"/>
                </a:lnTo>
                <a:lnTo>
                  <a:pt x="0" y="223435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1028700" y="1486222"/>
            <a:ext cx="16621650" cy="754761"/>
          </a:xfrm>
          <a:prstGeom prst="rect">
            <a:avLst/>
          </a:prstGeom>
        </p:spPr>
        <p:txBody>
          <a:bodyPr anchor="t" rtlCol="false" tIns="0" lIns="0" bIns="0" rIns="0">
            <a:spAutoFit/>
          </a:bodyPr>
          <a:lstStyle/>
          <a:p>
            <a:pPr algn="l" marL="0" indent="0" lvl="0">
              <a:lnSpc>
                <a:spcPts val="6192"/>
              </a:lnSpc>
            </a:pPr>
            <a:r>
              <a:rPr lang="en-US" b="true" sz="4800">
                <a:solidFill>
                  <a:srgbClr val="AB2609"/>
                </a:solidFill>
                <a:latin typeface="Montaser Arabic Bold"/>
                <a:ea typeface="Montaser Arabic Bold"/>
                <a:cs typeface="Montaser Arabic Bold"/>
                <a:sym typeface="Montaser Arabic Bold"/>
              </a:rPr>
              <a:t>Announcement of Employee Departure </a:t>
            </a:r>
          </a:p>
        </p:txBody>
      </p:sp>
      <p:sp>
        <p:nvSpPr>
          <p:cNvPr name="TextBox 5" id="5"/>
          <p:cNvSpPr txBox="true"/>
          <p:nvPr/>
        </p:nvSpPr>
        <p:spPr>
          <a:xfrm rot="0">
            <a:off x="2163395" y="970598"/>
            <a:ext cx="1766005" cy="396240"/>
          </a:xfrm>
          <a:prstGeom prst="rect">
            <a:avLst/>
          </a:prstGeom>
        </p:spPr>
        <p:txBody>
          <a:bodyPr anchor="t" rtlCol="false" tIns="0" lIns="0" bIns="0" rIns="0">
            <a:spAutoFit/>
          </a:bodyPr>
          <a:lstStyle/>
          <a:p>
            <a:pPr algn="l" marL="0" indent="0" lvl="0">
              <a:lnSpc>
                <a:spcPts val="3359"/>
              </a:lnSpc>
              <a:spcBef>
                <a:spcPct val="0"/>
              </a:spcBef>
            </a:pPr>
            <a:r>
              <a:rPr lang="en-US" b="true" sz="2400">
                <a:solidFill>
                  <a:srgbClr val="000000"/>
                </a:solidFill>
                <a:latin typeface="Montaser Arabic Ultra-Bold"/>
                <a:ea typeface="Montaser Arabic Ultra-Bold"/>
                <a:cs typeface="Montaser Arabic Ultra-Bold"/>
                <a:sym typeface="Montaser Arabic Ultra-Bold"/>
              </a:rPr>
              <a:t>Wash</a:t>
            </a:r>
          </a:p>
        </p:txBody>
      </p:sp>
      <p:sp>
        <p:nvSpPr>
          <p:cNvPr name="TextBox 6" id="6"/>
          <p:cNvSpPr txBox="true"/>
          <p:nvPr/>
        </p:nvSpPr>
        <p:spPr>
          <a:xfrm rot="0">
            <a:off x="1028700" y="970598"/>
            <a:ext cx="1583559" cy="396240"/>
          </a:xfrm>
          <a:prstGeom prst="rect">
            <a:avLst/>
          </a:prstGeom>
        </p:spPr>
        <p:txBody>
          <a:bodyPr anchor="t" rtlCol="false" tIns="0" lIns="0" bIns="0" rIns="0">
            <a:spAutoFit/>
          </a:bodyPr>
          <a:lstStyle/>
          <a:p>
            <a:pPr algn="l" marL="0" indent="0" lvl="0">
              <a:lnSpc>
                <a:spcPts val="3359"/>
              </a:lnSpc>
              <a:spcBef>
                <a:spcPct val="0"/>
              </a:spcBef>
            </a:pPr>
            <a:r>
              <a:rPr lang="en-US" b="true" sz="2400">
                <a:solidFill>
                  <a:srgbClr val="AB2609"/>
                </a:solidFill>
                <a:latin typeface="Montaser Arabic Ultra-Bold"/>
                <a:ea typeface="Montaser Arabic Ultra-Bold"/>
                <a:cs typeface="Montaser Arabic Ultra-Bold"/>
                <a:sym typeface="Montaser Arabic Ultra-Bold"/>
              </a:rPr>
              <a:t>Scarlet</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4895201" y="564947"/>
            <a:ext cx="2325999" cy="2279479"/>
          </a:xfrm>
          <a:custGeom>
            <a:avLst/>
            <a:gdLst/>
            <a:ahLst/>
            <a:cxnLst/>
            <a:rect r="r" b="b" t="t" l="l"/>
            <a:pathLst>
              <a:path h="2279479" w="2325999">
                <a:moveTo>
                  <a:pt x="0" y="0"/>
                </a:moveTo>
                <a:lnTo>
                  <a:pt x="2325999" y="0"/>
                </a:lnTo>
                <a:lnTo>
                  <a:pt x="2325999" y="2279480"/>
                </a:lnTo>
                <a:lnTo>
                  <a:pt x="0" y="227948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028700" y="1486222"/>
            <a:ext cx="16621650" cy="754761"/>
          </a:xfrm>
          <a:prstGeom prst="rect">
            <a:avLst/>
          </a:prstGeom>
        </p:spPr>
        <p:txBody>
          <a:bodyPr anchor="t" rtlCol="false" tIns="0" lIns="0" bIns="0" rIns="0">
            <a:spAutoFit/>
          </a:bodyPr>
          <a:lstStyle/>
          <a:p>
            <a:pPr algn="l" marL="0" indent="0" lvl="0">
              <a:lnSpc>
                <a:spcPts val="6192"/>
              </a:lnSpc>
            </a:pPr>
            <a:r>
              <a:rPr lang="en-US" b="true" sz="4800">
                <a:solidFill>
                  <a:srgbClr val="AB2609"/>
                </a:solidFill>
                <a:latin typeface="Montaser Arabic Ultra-Bold"/>
                <a:ea typeface="Montaser Arabic Ultra-Bold"/>
                <a:cs typeface="Montaser Arabic Ultra-Bold"/>
                <a:sym typeface="Montaser Arabic Ultra-Bold"/>
              </a:rPr>
              <a:t>Keys to Achieving Employee Engagement</a:t>
            </a:r>
          </a:p>
        </p:txBody>
      </p:sp>
      <p:sp>
        <p:nvSpPr>
          <p:cNvPr name="TextBox 4" id="4"/>
          <p:cNvSpPr txBox="true"/>
          <p:nvPr/>
        </p:nvSpPr>
        <p:spPr>
          <a:xfrm rot="0">
            <a:off x="553323" y="2549276"/>
            <a:ext cx="8458975" cy="6981190"/>
          </a:xfrm>
          <a:prstGeom prst="rect">
            <a:avLst/>
          </a:prstGeom>
        </p:spPr>
        <p:txBody>
          <a:bodyPr anchor="t" rtlCol="false" tIns="0" lIns="0" bIns="0" rIns="0">
            <a:spAutoFit/>
          </a:bodyPr>
          <a:lstStyle/>
          <a:p>
            <a:pPr algn="just">
              <a:lnSpc>
                <a:spcPts val="2660"/>
              </a:lnSpc>
            </a:pPr>
            <a:r>
              <a:rPr lang="en-US" sz="1900" u="sng">
                <a:solidFill>
                  <a:srgbClr val="000000"/>
                </a:solidFill>
                <a:latin typeface="TT Firs Neue"/>
                <a:ea typeface="TT Firs Neue"/>
                <a:cs typeface="TT Firs Neue"/>
                <a:sym typeface="TT Firs Neue"/>
              </a:rPr>
              <a:t>Leadership Commitment and Transparency</a:t>
            </a:r>
          </a:p>
          <a:p>
            <a:pPr algn="just" marL="410211" indent="-205106" lvl="1">
              <a:lnSpc>
                <a:spcPts val="2660"/>
              </a:lnSpc>
              <a:buFont typeface="Arial"/>
              <a:buChar char="•"/>
            </a:pPr>
            <a:r>
              <a:rPr lang="en-US" sz="1900">
                <a:solidFill>
                  <a:srgbClr val="000000"/>
                </a:solidFill>
                <a:latin typeface="TT Firs Neue"/>
                <a:ea typeface="TT Firs Neue"/>
                <a:cs typeface="TT Firs Neue"/>
                <a:sym typeface="TT Firs Neue"/>
              </a:rPr>
              <a:t>Openly sharing goals, challenges, and progress of Scarlet Wash.</a:t>
            </a:r>
          </a:p>
          <a:p>
            <a:pPr algn="just" marL="410211" indent="-205106" lvl="1">
              <a:lnSpc>
                <a:spcPts val="2660"/>
              </a:lnSpc>
              <a:buFont typeface="Arial"/>
              <a:buChar char="•"/>
            </a:pPr>
            <a:r>
              <a:rPr lang="en-US" sz="1900">
                <a:solidFill>
                  <a:srgbClr val="000000"/>
                </a:solidFill>
                <a:latin typeface="TT Firs Neue"/>
                <a:ea typeface="TT Firs Neue"/>
                <a:cs typeface="TT Firs Neue"/>
                <a:sym typeface="TT Firs Neue"/>
              </a:rPr>
              <a:t>Holding team meetings to recognize contributions and update everyone on impact of the business</a:t>
            </a:r>
          </a:p>
          <a:p>
            <a:pPr algn="just">
              <a:lnSpc>
                <a:spcPts val="2660"/>
              </a:lnSpc>
            </a:pPr>
            <a:r>
              <a:rPr lang="en-US" sz="1900">
                <a:solidFill>
                  <a:srgbClr val="000000"/>
                </a:solidFill>
                <a:latin typeface="TT Firs Neue"/>
                <a:ea typeface="TT Firs Neue"/>
                <a:cs typeface="TT Firs Neue"/>
                <a:sym typeface="TT Firs Neue"/>
              </a:rPr>
              <a:t>Function: to</a:t>
            </a:r>
            <a:r>
              <a:rPr lang="en-US" sz="1900">
                <a:solidFill>
                  <a:srgbClr val="000000"/>
                </a:solidFill>
                <a:latin typeface="TT Firs Neue"/>
                <a:ea typeface="TT Firs Neue"/>
                <a:cs typeface="TT Firs Neue"/>
                <a:sym typeface="TT Firs Neue"/>
              </a:rPr>
              <a:t> build trust and manager-employee alignment, two critical components of engagement. When employees understand the company’s mission, performance, and challenges, they feel more included and valued. Regular recognition during team meetings reinforces a sense of purpose and belonging, making employees more emotionally invested in the organization’s success</a:t>
            </a:r>
          </a:p>
          <a:p>
            <a:pPr algn="just">
              <a:lnSpc>
                <a:spcPts val="2660"/>
              </a:lnSpc>
            </a:pPr>
          </a:p>
          <a:p>
            <a:pPr algn="just">
              <a:lnSpc>
                <a:spcPts val="2660"/>
              </a:lnSpc>
            </a:pPr>
            <a:r>
              <a:rPr lang="en-US" sz="1900" u="sng">
                <a:solidFill>
                  <a:srgbClr val="000000"/>
                </a:solidFill>
                <a:latin typeface="TT Firs Neue"/>
                <a:ea typeface="TT Firs Neue"/>
                <a:cs typeface="TT Firs Neue"/>
                <a:sym typeface="TT Firs Neue"/>
              </a:rPr>
              <a:t>Empowerment and Autonomy</a:t>
            </a:r>
          </a:p>
          <a:p>
            <a:pPr algn="just" marL="410211" indent="-205106" lvl="1">
              <a:lnSpc>
                <a:spcPts val="2660"/>
              </a:lnSpc>
              <a:buFont typeface="Arial"/>
              <a:buChar char="•"/>
            </a:pPr>
            <a:r>
              <a:rPr lang="en-US" sz="1900">
                <a:solidFill>
                  <a:srgbClr val="000000"/>
                </a:solidFill>
                <a:latin typeface="TT Firs Neue"/>
                <a:ea typeface="TT Firs Neue"/>
                <a:cs typeface="TT Firs Neue"/>
                <a:sym typeface="TT Firs Neue"/>
              </a:rPr>
              <a:t>Allow employees to suggest and implement process improvements (e.g., scheduling system, detergent options, eco-friendly machines).</a:t>
            </a:r>
          </a:p>
          <a:p>
            <a:pPr algn="just" marL="410211" indent="-205106" lvl="1">
              <a:lnSpc>
                <a:spcPts val="2660"/>
              </a:lnSpc>
              <a:buFont typeface="Arial"/>
              <a:buChar char="•"/>
            </a:pPr>
            <a:r>
              <a:rPr lang="en-US" sz="1900">
                <a:solidFill>
                  <a:srgbClr val="000000"/>
                </a:solidFill>
                <a:latin typeface="TT Firs Neue"/>
                <a:ea typeface="TT Firs Neue"/>
                <a:cs typeface="TT Firs Neue"/>
                <a:sym typeface="TT Firs Neue"/>
              </a:rPr>
              <a:t>Involve them in decision-making to increase ownership and innovation</a:t>
            </a:r>
          </a:p>
          <a:p>
            <a:pPr algn="just">
              <a:lnSpc>
                <a:spcPts val="2660"/>
              </a:lnSpc>
            </a:pPr>
            <a:r>
              <a:rPr lang="en-US" sz="1900">
                <a:solidFill>
                  <a:srgbClr val="000000"/>
                </a:solidFill>
                <a:latin typeface="TT Firs Neue"/>
                <a:ea typeface="TT Firs Neue"/>
                <a:cs typeface="TT Firs Neue"/>
                <a:sym typeface="TT Firs Neue"/>
              </a:rPr>
              <a:t>Function: </a:t>
            </a:r>
            <a:r>
              <a:rPr lang="en-US" sz="1900">
                <a:solidFill>
                  <a:srgbClr val="000000"/>
                </a:solidFill>
                <a:latin typeface="TT Firs Neue"/>
                <a:ea typeface="TT Firs Neue"/>
                <a:cs typeface="TT Firs Neue"/>
                <a:sym typeface="TT Firs Neue"/>
              </a:rPr>
              <a:t>Empowering employees gives them control and responsibility, which directly increases engagement. When individuals are trusted to make decisions, they feel respected and motivated to contribute creatively. This also fosters innovation and continuous improvement, as employees take pride in shaping how the organization operates.</a:t>
            </a:r>
          </a:p>
          <a:p>
            <a:pPr algn="just" marL="0" indent="0" lvl="0">
              <a:lnSpc>
                <a:spcPts val="2660"/>
              </a:lnSpc>
              <a:spcBef>
                <a:spcPct val="0"/>
              </a:spcBef>
            </a:pPr>
          </a:p>
        </p:txBody>
      </p:sp>
      <p:sp>
        <p:nvSpPr>
          <p:cNvPr name="TextBox 5" id="5"/>
          <p:cNvSpPr txBox="true"/>
          <p:nvPr/>
        </p:nvSpPr>
        <p:spPr>
          <a:xfrm rot="0">
            <a:off x="2163395" y="970598"/>
            <a:ext cx="1766005" cy="396240"/>
          </a:xfrm>
          <a:prstGeom prst="rect">
            <a:avLst/>
          </a:prstGeom>
        </p:spPr>
        <p:txBody>
          <a:bodyPr anchor="t" rtlCol="false" tIns="0" lIns="0" bIns="0" rIns="0">
            <a:spAutoFit/>
          </a:bodyPr>
          <a:lstStyle/>
          <a:p>
            <a:pPr algn="l" marL="0" indent="0" lvl="0">
              <a:lnSpc>
                <a:spcPts val="3359"/>
              </a:lnSpc>
              <a:spcBef>
                <a:spcPct val="0"/>
              </a:spcBef>
            </a:pPr>
            <a:r>
              <a:rPr lang="en-US" b="true" sz="2400">
                <a:solidFill>
                  <a:srgbClr val="000000"/>
                </a:solidFill>
                <a:latin typeface="Montaser Arabic Ultra-Bold"/>
                <a:ea typeface="Montaser Arabic Ultra-Bold"/>
                <a:cs typeface="Montaser Arabic Ultra-Bold"/>
                <a:sym typeface="Montaser Arabic Ultra-Bold"/>
              </a:rPr>
              <a:t>Wash</a:t>
            </a:r>
          </a:p>
        </p:txBody>
      </p:sp>
      <p:sp>
        <p:nvSpPr>
          <p:cNvPr name="TextBox 6" id="6"/>
          <p:cNvSpPr txBox="true"/>
          <p:nvPr/>
        </p:nvSpPr>
        <p:spPr>
          <a:xfrm rot="0">
            <a:off x="1028700" y="970598"/>
            <a:ext cx="1583559" cy="396240"/>
          </a:xfrm>
          <a:prstGeom prst="rect">
            <a:avLst/>
          </a:prstGeom>
        </p:spPr>
        <p:txBody>
          <a:bodyPr anchor="t" rtlCol="false" tIns="0" lIns="0" bIns="0" rIns="0">
            <a:spAutoFit/>
          </a:bodyPr>
          <a:lstStyle/>
          <a:p>
            <a:pPr algn="l" marL="0" indent="0" lvl="0">
              <a:lnSpc>
                <a:spcPts val="3359"/>
              </a:lnSpc>
              <a:spcBef>
                <a:spcPct val="0"/>
              </a:spcBef>
            </a:pPr>
            <a:r>
              <a:rPr lang="en-US" b="true" sz="2400">
                <a:solidFill>
                  <a:srgbClr val="AB2609"/>
                </a:solidFill>
                <a:latin typeface="Montaser Arabic Ultra-Bold"/>
                <a:ea typeface="Montaser Arabic Ultra-Bold"/>
                <a:cs typeface="Montaser Arabic Ultra-Bold"/>
                <a:sym typeface="Montaser Arabic Ultra-Bold"/>
              </a:rPr>
              <a:t>Scarlet</a:t>
            </a:r>
          </a:p>
        </p:txBody>
      </p:sp>
      <p:sp>
        <p:nvSpPr>
          <p:cNvPr name="TextBox 7" id="7"/>
          <p:cNvSpPr txBox="true"/>
          <p:nvPr/>
        </p:nvSpPr>
        <p:spPr>
          <a:xfrm rot="0">
            <a:off x="9652295" y="2021908"/>
            <a:ext cx="8129757" cy="8359775"/>
          </a:xfrm>
          <a:prstGeom prst="rect">
            <a:avLst/>
          </a:prstGeom>
        </p:spPr>
        <p:txBody>
          <a:bodyPr anchor="t" rtlCol="false" tIns="0" lIns="0" bIns="0" rIns="0">
            <a:spAutoFit/>
          </a:bodyPr>
          <a:lstStyle/>
          <a:p>
            <a:pPr algn="just">
              <a:lnSpc>
                <a:spcPts val="2940"/>
              </a:lnSpc>
            </a:pPr>
          </a:p>
          <a:p>
            <a:pPr algn="just">
              <a:lnSpc>
                <a:spcPts val="2660"/>
              </a:lnSpc>
            </a:pPr>
          </a:p>
          <a:p>
            <a:pPr algn="just">
              <a:lnSpc>
                <a:spcPts val="2660"/>
              </a:lnSpc>
            </a:pPr>
            <a:r>
              <a:rPr lang="en-US" sz="1900" u="sng">
                <a:solidFill>
                  <a:srgbClr val="000000"/>
                </a:solidFill>
                <a:latin typeface="TT Firs Neue"/>
                <a:ea typeface="TT Firs Neue"/>
                <a:cs typeface="TT Firs Neue"/>
                <a:sym typeface="TT Firs Neue"/>
              </a:rPr>
              <a:t>Feedback and Listening Systems</a:t>
            </a:r>
          </a:p>
          <a:p>
            <a:pPr algn="just" marL="410211" indent="-205106" lvl="1">
              <a:lnSpc>
                <a:spcPts val="2660"/>
              </a:lnSpc>
              <a:buFont typeface="Arial"/>
              <a:buChar char="•"/>
            </a:pPr>
            <a:r>
              <a:rPr lang="en-US" sz="1900">
                <a:solidFill>
                  <a:srgbClr val="000000"/>
                </a:solidFill>
                <a:latin typeface="TT Firs Neue"/>
                <a:ea typeface="TT Firs Neue"/>
                <a:cs typeface="TT Firs Neue"/>
                <a:sym typeface="TT Firs Neue"/>
              </a:rPr>
              <a:t>Use short monthly surveys or suggestion boxes to gather feedback.</a:t>
            </a:r>
          </a:p>
          <a:p>
            <a:pPr algn="just" marL="410211" indent="-205106" lvl="1">
              <a:lnSpc>
                <a:spcPts val="2660"/>
              </a:lnSpc>
              <a:buFont typeface="Arial"/>
              <a:buChar char="•"/>
            </a:pPr>
            <a:r>
              <a:rPr lang="en-US" sz="1900">
                <a:solidFill>
                  <a:srgbClr val="000000"/>
                </a:solidFill>
                <a:latin typeface="TT Firs Neue"/>
                <a:ea typeface="TT Firs Neue"/>
                <a:cs typeface="TT Firs Neue"/>
                <a:sym typeface="TT Firs Neue"/>
              </a:rPr>
              <a:t>Implement an “idea of the month” challenge where employees’ operations-improvement suggestions are tested and rewarded.</a:t>
            </a:r>
          </a:p>
          <a:p>
            <a:pPr algn="just">
              <a:lnSpc>
                <a:spcPts val="2660"/>
              </a:lnSpc>
            </a:pPr>
            <a:r>
              <a:rPr lang="en-US" sz="1900">
                <a:solidFill>
                  <a:srgbClr val="000000"/>
                </a:solidFill>
                <a:latin typeface="TT Firs Neue"/>
                <a:ea typeface="TT Firs Neue"/>
                <a:cs typeface="TT Firs Neue"/>
                <a:sym typeface="TT Firs Neue"/>
              </a:rPr>
              <a:t>Function: Employees thrive when they feel heard and valued. Regular feedback systems encourage open communication and continuous improvement. Rewarding employee ideas shows that leadership takes input seriously, promoting a two-way relationship where employees are active contributors, not just workers.</a:t>
            </a:r>
          </a:p>
          <a:p>
            <a:pPr algn="just">
              <a:lnSpc>
                <a:spcPts val="2660"/>
              </a:lnSpc>
            </a:pPr>
          </a:p>
          <a:p>
            <a:pPr algn="just">
              <a:lnSpc>
                <a:spcPts val="2660"/>
              </a:lnSpc>
            </a:pPr>
            <a:r>
              <a:rPr lang="en-US" sz="1900" u="sng">
                <a:solidFill>
                  <a:srgbClr val="000000"/>
                </a:solidFill>
                <a:latin typeface="TT Firs Neue"/>
                <a:ea typeface="TT Firs Neue"/>
                <a:cs typeface="TT Firs Neue"/>
                <a:sym typeface="TT Firs Neue"/>
              </a:rPr>
              <a:t>Work-Life Balance and Flexibility</a:t>
            </a:r>
          </a:p>
          <a:p>
            <a:pPr algn="just" marL="410211" indent="-205106" lvl="1">
              <a:lnSpc>
                <a:spcPts val="2660"/>
              </a:lnSpc>
              <a:buFont typeface="Arial"/>
              <a:buChar char="•"/>
            </a:pPr>
            <a:r>
              <a:rPr lang="en-US" sz="1900">
                <a:solidFill>
                  <a:srgbClr val="000000"/>
                </a:solidFill>
                <a:latin typeface="TT Firs Neue"/>
                <a:ea typeface="TT Firs Neue"/>
                <a:cs typeface="TT Firs Neue"/>
                <a:sym typeface="TT Firs Neue"/>
              </a:rPr>
              <a:t>Provide flexible shifts for student workers to accommodate class schedules.</a:t>
            </a:r>
          </a:p>
          <a:p>
            <a:pPr algn="just" marL="410211" indent="-205106" lvl="1">
              <a:lnSpc>
                <a:spcPts val="2660"/>
              </a:lnSpc>
              <a:buFont typeface="Arial"/>
              <a:buChar char="•"/>
            </a:pPr>
            <a:r>
              <a:rPr lang="en-US" sz="1900">
                <a:solidFill>
                  <a:srgbClr val="000000"/>
                </a:solidFill>
                <a:latin typeface="TT Firs Neue"/>
                <a:ea typeface="TT Firs Neue"/>
                <a:cs typeface="TT Firs Neue"/>
                <a:sym typeface="TT Firs Neue"/>
              </a:rPr>
              <a:t>Promote well-being through reasonable workloads and supportive leadership.</a:t>
            </a:r>
          </a:p>
          <a:p>
            <a:pPr algn="just">
              <a:lnSpc>
                <a:spcPts val="2660"/>
              </a:lnSpc>
            </a:pPr>
            <a:r>
              <a:rPr lang="en-US" sz="1900">
                <a:solidFill>
                  <a:srgbClr val="000000"/>
                </a:solidFill>
                <a:latin typeface="TT Firs Neue"/>
                <a:ea typeface="TT Firs Neue"/>
                <a:cs typeface="TT Firs Neue"/>
                <a:sym typeface="TT Firs Neue"/>
              </a:rPr>
              <a:t>Function: </a:t>
            </a:r>
            <a:r>
              <a:rPr lang="en-US" sz="1900">
                <a:solidFill>
                  <a:srgbClr val="000000"/>
                </a:solidFill>
                <a:latin typeface="TT Firs Neue"/>
                <a:ea typeface="TT Firs Neue"/>
                <a:cs typeface="TT Firs Neue"/>
                <a:sym typeface="TT Firs Neue"/>
              </a:rPr>
              <a:t>Supporting work-life balance shows genuine care for employees’ mental health and personal needs. Flexible scheduling reduces stress and burnout, helping employees perform better when they’re at work. When employees feel that their well-being is prioritized, they are more loyal, engaged, and willing to go the extra mile for the organization</a:t>
            </a:r>
          </a:p>
          <a:p>
            <a:pPr algn="just">
              <a:lnSpc>
                <a:spcPts val="2660"/>
              </a:lnSpc>
            </a:pPr>
          </a:p>
          <a:p>
            <a:pPr algn="just" marL="0" indent="0" lvl="0">
              <a:lnSpc>
                <a:spcPts val="2660"/>
              </a:lnSpc>
              <a:spcBef>
                <a:spcPct val="0"/>
              </a:spcBef>
            </a:pP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aphicFrame>
        <p:nvGraphicFramePr>
          <p:cNvPr name="Object 2" id="2"/>
          <p:cNvGraphicFramePr/>
          <p:nvPr/>
        </p:nvGraphicFramePr>
        <p:xfrm>
          <a:off x="9525" y="2298133"/>
          <a:ext cx="6305550" cy="11396282"/>
        </p:xfrm>
        <a:graphic>
          <a:graphicData uri="http://schemas.openxmlformats.org/presentationml/2006/ole">
            <p:oleObj imgW="8572500" imgH="13677900" r:id="rId3" progId="Excel.Sheet.12" name="Worksheet">
              <p:embed/>
              <p:pic>
                <p:nvPicPr>
                  <p:cNvPr name="" id="0"/>
                  <p:cNvPicPr/>
                  <p:nvPr/>
                </p:nvPicPr>
                <p:blipFill>
                  <a:blip r:embed="rId2"/>
                  <a:stretch>
                    <a:fillRect/>
                  </a:stretch>
                </p:blipFill>
                <p:spPr>
                  <a:xfrm>
                    <a:off x="1270000" y="1270000"/>
                    <a:ext cx="1270000" cy="1270000"/>
                  </a:xfrm>
                  <a:prstGeom prst="rect"/>
                </p:spPr>
              </p:pic>
            </p:oleObj>
          </a:graphicData>
        </a:graphic>
      </p:graphicFrame>
      <p:sp>
        <p:nvSpPr>
          <p:cNvPr name="Freeform 3" id="3"/>
          <p:cNvSpPr/>
          <p:nvPr/>
        </p:nvSpPr>
        <p:spPr>
          <a:xfrm flipH="false" flipV="false" rot="0">
            <a:off x="4635252" y="-220484"/>
            <a:ext cx="2228917" cy="2458364"/>
          </a:xfrm>
          <a:custGeom>
            <a:avLst/>
            <a:gdLst/>
            <a:ahLst/>
            <a:cxnLst/>
            <a:rect r="r" b="b" t="t" l="l"/>
            <a:pathLst>
              <a:path h="2458364" w="2228917">
                <a:moveTo>
                  <a:pt x="0" y="0"/>
                </a:moveTo>
                <a:lnTo>
                  <a:pt x="2228916" y="0"/>
                </a:lnTo>
                <a:lnTo>
                  <a:pt x="2228916" y="2458363"/>
                </a:lnTo>
                <a:lnTo>
                  <a:pt x="0" y="2458363"/>
                </a:lnTo>
                <a:lnTo>
                  <a:pt x="0" y="0"/>
                </a:lnTo>
                <a:close/>
              </a:path>
            </a:pathLst>
          </a:custGeom>
          <a:blipFill>
            <a:blip r:embed="rId4"/>
            <a:stretch>
              <a:fillRect l="0" t="0" r="0" b="0"/>
            </a:stretch>
          </a:blipFill>
        </p:spPr>
      </p:sp>
      <p:sp>
        <p:nvSpPr>
          <p:cNvPr name="Freeform 4" id="4"/>
          <p:cNvSpPr/>
          <p:nvPr/>
        </p:nvSpPr>
        <p:spPr>
          <a:xfrm flipH="false" flipV="false" rot="0">
            <a:off x="7875170" y="0"/>
            <a:ext cx="2982180" cy="1913016"/>
          </a:xfrm>
          <a:custGeom>
            <a:avLst/>
            <a:gdLst/>
            <a:ahLst/>
            <a:cxnLst/>
            <a:rect r="r" b="b" t="t" l="l"/>
            <a:pathLst>
              <a:path h="1913016" w="2982180">
                <a:moveTo>
                  <a:pt x="0" y="0"/>
                </a:moveTo>
                <a:lnTo>
                  <a:pt x="2982180" y="0"/>
                </a:lnTo>
                <a:lnTo>
                  <a:pt x="2982180" y="1913016"/>
                </a:lnTo>
                <a:lnTo>
                  <a:pt x="0" y="1913016"/>
                </a:lnTo>
                <a:lnTo>
                  <a:pt x="0" y="0"/>
                </a:lnTo>
                <a:close/>
              </a:path>
            </a:pathLst>
          </a:custGeom>
          <a:blipFill>
            <a:blip r:embed="rId5"/>
            <a:stretch>
              <a:fillRect l="0" t="0" r="-1546" b="-24973"/>
            </a:stretch>
          </a:blipFill>
        </p:spPr>
      </p:sp>
      <p:sp>
        <p:nvSpPr>
          <p:cNvPr name="Freeform 5" id="5"/>
          <p:cNvSpPr/>
          <p:nvPr/>
        </p:nvSpPr>
        <p:spPr>
          <a:xfrm flipH="false" flipV="false" rot="0">
            <a:off x="12057747" y="70745"/>
            <a:ext cx="1809470" cy="1915910"/>
          </a:xfrm>
          <a:custGeom>
            <a:avLst/>
            <a:gdLst/>
            <a:ahLst/>
            <a:cxnLst/>
            <a:rect r="r" b="b" t="t" l="l"/>
            <a:pathLst>
              <a:path h="1915910" w="1809470">
                <a:moveTo>
                  <a:pt x="0" y="0"/>
                </a:moveTo>
                <a:lnTo>
                  <a:pt x="1809470" y="0"/>
                </a:lnTo>
                <a:lnTo>
                  <a:pt x="1809470" y="1915910"/>
                </a:lnTo>
                <a:lnTo>
                  <a:pt x="0" y="1915910"/>
                </a:lnTo>
                <a:lnTo>
                  <a:pt x="0" y="0"/>
                </a:lnTo>
                <a:close/>
              </a:path>
            </a:pathLst>
          </a:custGeom>
          <a:blipFill>
            <a:blip r:embed="rId6"/>
            <a:stretch>
              <a:fillRect l="0" t="0" r="0" b="0"/>
            </a:stretch>
          </a:blipFill>
        </p:spPr>
      </p:sp>
      <p:sp>
        <p:nvSpPr>
          <p:cNvPr name="Freeform 6" id="6"/>
          <p:cNvSpPr/>
          <p:nvPr/>
        </p:nvSpPr>
        <p:spPr>
          <a:xfrm flipH="false" flipV="false" rot="0">
            <a:off x="15030383" y="-220484"/>
            <a:ext cx="2228917" cy="2458364"/>
          </a:xfrm>
          <a:custGeom>
            <a:avLst/>
            <a:gdLst/>
            <a:ahLst/>
            <a:cxnLst/>
            <a:rect r="r" b="b" t="t" l="l"/>
            <a:pathLst>
              <a:path h="2458364" w="2228917">
                <a:moveTo>
                  <a:pt x="0" y="0"/>
                </a:moveTo>
                <a:lnTo>
                  <a:pt x="2228917" y="0"/>
                </a:lnTo>
                <a:lnTo>
                  <a:pt x="2228917" y="2458363"/>
                </a:lnTo>
                <a:lnTo>
                  <a:pt x="0" y="2458363"/>
                </a:lnTo>
                <a:lnTo>
                  <a:pt x="0" y="0"/>
                </a:lnTo>
                <a:close/>
              </a:path>
            </a:pathLst>
          </a:custGeom>
          <a:blipFill>
            <a:blip r:embed="rId4"/>
            <a:stretch>
              <a:fillRect l="0" t="0" r="0" b="0"/>
            </a:stretch>
          </a:blipFill>
        </p:spPr>
      </p:sp>
      <p:grpSp>
        <p:nvGrpSpPr>
          <p:cNvPr name="Group 7" id="7"/>
          <p:cNvGrpSpPr/>
          <p:nvPr/>
        </p:nvGrpSpPr>
        <p:grpSpPr>
          <a:xfrm rot="0">
            <a:off x="7031071" y="441718"/>
            <a:ext cx="1029581" cy="1029581"/>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812800" y="406400"/>
                  </a:moveTo>
                  <a:lnTo>
                    <a:pt x="406400" y="0"/>
                  </a:lnTo>
                  <a:lnTo>
                    <a:pt x="406400" y="203200"/>
                  </a:lnTo>
                  <a:lnTo>
                    <a:pt x="0" y="203200"/>
                  </a:lnTo>
                  <a:lnTo>
                    <a:pt x="0" y="609600"/>
                  </a:lnTo>
                  <a:lnTo>
                    <a:pt x="406400" y="609600"/>
                  </a:lnTo>
                  <a:lnTo>
                    <a:pt x="406400" y="812800"/>
                  </a:lnTo>
                  <a:lnTo>
                    <a:pt x="812800" y="406400"/>
                  </a:lnTo>
                  <a:close/>
                </a:path>
              </a:pathLst>
            </a:custGeom>
            <a:solidFill>
              <a:srgbClr val="AB2609"/>
            </a:solidFill>
          </p:spPr>
        </p:sp>
        <p:sp>
          <p:nvSpPr>
            <p:cNvPr name="TextBox 9" id="9"/>
            <p:cNvSpPr txBox="true"/>
            <p:nvPr/>
          </p:nvSpPr>
          <p:spPr>
            <a:xfrm>
              <a:off x="0" y="165100"/>
              <a:ext cx="711200" cy="444500"/>
            </a:xfrm>
            <a:prstGeom prst="rect">
              <a:avLst/>
            </a:prstGeom>
          </p:spPr>
          <p:txBody>
            <a:bodyPr anchor="ctr" rtlCol="false" tIns="50800" lIns="50800" bIns="50800" rIns="50800"/>
            <a:lstStyle/>
            <a:p>
              <a:pPr algn="ctr">
                <a:lnSpc>
                  <a:spcPts val="3359"/>
                </a:lnSpc>
              </a:pPr>
            </a:p>
          </p:txBody>
        </p:sp>
      </p:grpSp>
      <p:sp>
        <p:nvSpPr>
          <p:cNvPr name="TextBox 10" id="10"/>
          <p:cNvSpPr txBox="true"/>
          <p:nvPr/>
        </p:nvSpPr>
        <p:spPr>
          <a:xfrm rot="0">
            <a:off x="2163395" y="970598"/>
            <a:ext cx="1766005" cy="396240"/>
          </a:xfrm>
          <a:prstGeom prst="rect">
            <a:avLst/>
          </a:prstGeom>
        </p:spPr>
        <p:txBody>
          <a:bodyPr anchor="t" rtlCol="false" tIns="0" lIns="0" bIns="0" rIns="0">
            <a:spAutoFit/>
          </a:bodyPr>
          <a:lstStyle/>
          <a:p>
            <a:pPr algn="l" marL="0" indent="0" lvl="0">
              <a:lnSpc>
                <a:spcPts val="3359"/>
              </a:lnSpc>
              <a:spcBef>
                <a:spcPct val="0"/>
              </a:spcBef>
            </a:pPr>
            <a:r>
              <a:rPr lang="en-US" b="true" sz="2400">
                <a:solidFill>
                  <a:srgbClr val="000000"/>
                </a:solidFill>
                <a:latin typeface="Montaser Arabic Ultra-Bold"/>
                <a:ea typeface="Montaser Arabic Ultra-Bold"/>
                <a:cs typeface="Montaser Arabic Ultra-Bold"/>
                <a:sym typeface="Montaser Arabic Ultra-Bold"/>
              </a:rPr>
              <a:t>Wash</a:t>
            </a:r>
          </a:p>
        </p:txBody>
      </p:sp>
      <p:sp>
        <p:nvSpPr>
          <p:cNvPr name="TextBox 11" id="11"/>
          <p:cNvSpPr txBox="true"/>
          <p:nvPr/>
        </p:nvSpPr>
        <p:spPr>
          <a:xfrm rot="0">
            <a:off x="1028700" y="970598"/>
            <a:ext cx="1583559" cy="396240"/>
          </a:xfrm>
          <a:prstGeom prst="rect">
            <a:avLst/>
          </a:prstGeom>
        </p:spPr>
        <p:txBody>
          <a:bodyPr anchor="t" rtlCol="false" tIns="0" lIns="0" bIns="0" rIns="0">
            <a:spAutoFit/>
          </a:bodyPr>
          <a:lstStyle/>
          <a:p>
            <a:pPr algn="l" marL="0" indent="0" lvl="0">
              <a:lnSpc>
                <a:spcPts val="3359"/>
              </a:lnSpc>
              <a:spcBef>
                <a:spcPct val="0"/>
              </a:spcBef>
            </a:pPr>
            <a:r>
              <a:rPr lang="en-US" b="true" sz="2400">
                <a:solidFill>
                  <a:srgbClr val="AB2609"/>
                </a:solidFill>
                <a:latin typeface="Montaser Arabic Ultra-Bold"/>
                <a:ea typeface="Montaser Arabic Ultra-Bold"/>
                <a:cs typeface="Montaser Arabic Ultra-Bold"/>
                <a:sym typeface="Montaser Arabic Ultra-Bold"/>
              </a:rPr>
              <a:t>Scarlet</a:t>
            </a:r>
          </a:p>
        </p:txBody>
      </p:sp>
      <p:grpSp>
        <p:nvGrpSpPr>
          <p:cNvPr name="Group 12" id="12"/>
          <p:cNvGrpSpPr/>
          <p:nvPr/>
        </p:nvGrpSpPr>
        <p:grpSpPr>
          <a:xfrm rot="0">
            <a:off x="10701853" y="513910"/>
            <a:ext cx="1029581" cy="1029581"/>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812800" y="406400"/>
                  </a:moveTo>
                  <a:lnTo>
                    <a:pt x="406400" y="0"/>
                  </a:lnTo>
                  <a:lnTo>
                    <a:pt x="406400" y="203200"/>
                  </a:lnTo>
                  <a:lnTo>
                    <a:pt x="0" y="203200"/>
                  </a:lnTo>
                  <a:lnTo>
                    <a:pt x="0" y="609600"/>
                  </a:lnTo>
                  <a:lnTo>
                    <a:pt x="406400" y="609600"/>
                  </a:lnTo>
                  <a:lnTo>
                    <a:pt x="406400" y="812800"/>
                  </a:lnTo>
                  <a:lnTo>
                    <a:pt x="812800" y="406400"/>
                  </a:lnTo>
                  <a:close/>
                </a:path>
              </a:pathLst>
            </a:custGeom>
            <a:solidFill>
              <a:srgbClr val="AB2609"/>
            </a:solidFill>
          </p:spPr>
        </p:sp>
        <p:sp>
          <p:nvSpPr>
            <p:cNvPr name="TextBox 14" id="14"/>
            <p:cNvSpPr txBox="true"/>
            <p:nvPr/>
          </p:nvSpPr>
          <p:spPr>
            <a:xfrm>
              <a:off x="0" y="165100"/>
              <a:ext cx="711200" cy="444500"/>
            </a:xfrm>
            <a:prstGeom prst="rect">
              <a:avLst/>
            </a:prstGeom>
          </p:spPr>
          <p:txBody>
            <a:bodyPr anchor="ctr" rtlCol="false" tIns="50800" lIns="50800" bIns="50800" rIns="50800"/>
            <a:lstStyle/>
            <a:p>
              <a:pPr algn="ctr">
                <a:lnSpc>
                  <a:spcPts val="3359"/>
                </a:lnSpc>
              </a:pPr>
            </a:p>
          </p:txBody>
        </p:sp>
      </p:grpSp>
      <p:grpSp>
        <p:nvGrpSpPr>
          <p:cNvPr name="Group 15" id="15"/>
          <p:cNvGrpSpPr/>
          <p:nvPr/>
        </p:nvGrpSpPr>
        <p:grpSpPr>
          <a:xfrm rot="0">
            <a:off x="13934010" y="441718"/>
            <a:ext cx="1029581" cy="1029581"/>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812800" y="406400"/>
                  </a:moveTo>
                  <a:lnTo>
                    <a:pt x="406400" y="0"/>
                  </a:lnTo>
                  <a:lnTo>
                    <a:pt x="406400" y="203200"/>
                  </a:lnTo>
                  <a:lnTo>
                    <a:pt x="0" y="203200"/>
                  </a:lnTo>
                  <a:lnTo>
                    <a:pt x="0" y="609600"/>
                  </a:lnTo>
                  <a:lnTo>
                    <a:pt x="406400" y="609600"/>
                  </a:lnTo>
                  <a:lnTo>
                    <a:pt x="406400" y="812800"/>
                  </a:lnTo>
                  <a:lnTo>
                    <a:pt x="812800" y="406400"/>
                  </a:lnTo>
                  <a:close/>
                </a:path>
              </a:pathLst>
            </a:custGeom>
            <a:solidFill>
              <a:srgbClr val="AB2609"/>
            </a:solidFill>
          </p:spPr>
        </p:sp>
        <p:sp>
          <p:nvSpPr>
            <p:cNvPr name="TextBox 17" id="17"/>
            <p:cNvSpPr txBox="true"/>
            <p:nvPr/>
          </p:nvSpPr>
          <p:spPr>
            <a:xfrm>
              <a:off x="0" y="165100"/>
              <a:ext cx="711200" cy="444500"/>
            </a:xfrm>
            <a:prstGeom prst="rect">
              <a:avLst/>
            </a:prstGeom>
          </p:spPr>
          <p:txBody>
            <a:bodyPr anchor="ctr" rtlCol="false" tIns="50800" lIns="50800" bIns="50800" rIns="50800"/>
            <a:lstStyle/>
            <a:p>
              <a:pPr algn="ctr">
                <a:lnSpc>
                  <a:spcPts val="3359"/>
                </a:lnSpc>
              </a:pPr>
            </a:p>
          </p:txBody>
        </p:sp>
      </p:grpSp>
      <p:sp>
        <p:nvSpPr>
          <p:cNvPr name="TextBox 18" id="18"/>
          <p:cNvSpPr txBox="true"/>
          <p:nvPr/>
        </p:nvSpPr>
        <p:spPr>
          <a:xfrm rot="0">
            <a:off x="1028700" y="1486222"/>
            <a:ext cx="16621650" cy="754761"/>
          </a:xfrm>
          <a:prstGeom prst="rect">
            <a:avLst/>
          </a:prstGeom>
        </p:spPr>
        <p:txBody>
          <a:bodyPr anchor="t" rtlCol="false" tIns="0" lIns="0" bIns="0" rIns="0">
            <a:spAutoFit/>
          </a:bodyPr>
          <a:lstStyle/>
          <a:p>
            <a:pPr algn="l" marL="0" indent="0" lvl="0">
              <a:lnSpc>
                <a:spcPts val="6192"/>
              </a:lnSpc>
            </a:pPr>
            <a:r>
              <a:rPr lang="en-US" b="true" sz="4800">
                <a:solidFill>
                  <a:srgbClr val="AB2609"/>
                </a:solidFill>
                <a:latin typeface="Montaser Arabic Ultra-Bold"/>
                <a:ea typeface="Montaser Arabic Ultra-Bold"/>
                <a:cs typeface="Montaser Arabic Ultra-Bold"/>
                <a:sym typeface="Montaser Arabic Ultra-Bold"/>
              </a:rPr>
              <a:t>SIPOC</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43731" y="1523125"/>
            <a:ext cx="9976915" cy="4564375"/>
          </a:xfrm>
          <a:custGeom>
            <a:avLst/>
            <a:gdLst/>
            <a:ahLst/>
            <a:cxnLst/>
            <a:rect r="r" b="b" t="t" l="l"/>
            <a:pathLst>
              <a:path h="4564375" w="9976915">
                <a:moveTo>
                  <a:pt x="0" y="0"/>
                </a:moveTo>
                <a:lnTo>
                  <a:pt x="9976915" y="0"/>
                </a:lnTo>
                <a:lnTo>
                  <a:pt x="9976915" y="4564375"/>
                </a:lnTo>
                <a:lnTo>
                  <a:pt x="0" y="4564375"/>
                </a:lnTo>
                <a:lnTo>
                  <a:pt x="0" y="0"/>
                </a:lnTo>
                <a:close/>
              </a:path>
            </a:pathLst>
          </a:custGeom>
          <a:blipFill>
            <a:blip r:embed="rId2"/>
            <a:stretch>
              <a:fillRect l="0" t="0" r="-548" b="0"/>
            </a:stretch>
          </a:blipFill>
        </p:spPr>
      </p:sp>
      <p:sp>
        <p:nvSpPr>
          <p:cNvPr name="Freeform 3" id="3"/>
          <p:cNvSpPr/>
          <p:nvPr/>
        </p:nvSpPr>
        <p:spPr>
          <a:xfrm flipH="false" flipV="false" rot="0">
            <a:off x="6986741" y="5598183"/>
            <a:ext cx="11301259" cy="4153213"/>
          </a:xfrm>
          <a:custGeom>
            <a:avLst/>
            <a:gdLst/>
            <a:ahLst/>
            <a:cxnLst/>
            <a:rect r="r" b="b" t="t" l="l"/>
            <a:pathLst>
              <a:path h="4153213" w="11301259">
                <a:moveTo>
                  <a:pt x="0" y="0"/>
                </a:moveTo>
                <a:lnTo>
                  <a:pt x="11301259" y="0"/>
                </a:lnTo>
                <a:lnTo>
                  <a:pt x="11301259" y="4153213"/>
                </a:lnTo>
                <a:lnTo>
                  <a:pt x="0" y="4153213"/>
                </a:lnTo>
                <a:lnTo>
                  <a:pt x="0" y="0"/>
                </a:lnTo>
                <a:close/>
              </a:path>
            </a:pathLst>
          </a:custGeom>
          <a:blipFill>
            <a:blip r:embed="rId3"/>
            <a:stretch>
              <a:fillRect l="0" t="0" r="0" b="0"/>
            </a:stretch>
          </a:blipFill>
        </p:spPr>
      </p:sp>
      <p:sp>
        <p:nvSpPr>
          <p:cNvPr name="Freeform 4" id="4"/>
          <p:cNvSpPr/>
          <p:nvPr/>
        </p:nvSpPr>
        <p:spPr>
          <a:xfrm flipH="false" flipV="false" rot="0">
            <a:off x="1382895" y="7001876"/>
            <a:ext cx="4634022" cy="2749520"/>
          </a:xfrm>
          <a:custGeom>
            <a:avLst/>
            <a:gdLst/>
            <a:ahLst/>
            <a:cxnLst/>
            <a:rect r="r" b="b" t="t" l="l"/>
            <a:pathLst>
              <a:path h="2749520" w="4634022">
                <a:moveTo>
                  <a:pt x="0" y="0"/>
                </a:moveTo>
                <a:lnTo>
                  <a:pt x="4634022" y="0"/>
                </a:lnTo>
                <a:lnTo>
                  <a:pt x="4634022" y="2749520"/>
                </a:lnTo>
                <a:lnTo>
                  <a:pt x="0" y="2749520"/>
                </a:lnTo>
                <a:lnTo>
                  <a:pt x="0" y="0"/>
                </a:lnTo>
                <a:close/>
              </a:path>
            </a:pathLst>
          </a:custGeom>
          <a:blipFill>
            <a:blip r:embed="rId4"/>
            <a:stretch>
              <a:fillRect l="0" t="0" r="0" b="0"/>
            </a:stretch>
          </a:blipFill>
        </p:spPr>
      </p:sp>
      <p:sp>
        <p:nvSpPr>
          <p:cNvPr name="Freeform 5" id="5"/>
          <p:cNvSpPr/>
          <p:nvPr/>
        </p:nvSpPr>
        <p:spPr>
          <a:xfrm flipH="false" flipV="false" rot="0">
            <a:off x="11328336" y="1349144"/>
            <a:ext cx="5360281" cy="3794356"/>
          </a:xfrm>
          <a:custGeom>
            <a:avLst/>
            <a:gdLst/>
            <a:ahLst/>
            <a:cxnLst/>
            <a:rect r="r" b="b" t="t" l="l"/>
            <a:pathLst>
              <a:path h="3794356" w="5360281">
                <a:moveTo>
                  <a:pt x="0" y="0"/>
                </a:moveTo>
                <a:lnTo>
                  <a:pt x="5360281" y="0"/>
                </a:lnTo>
                <a:lnTo>
                  <a:pt x="5360281" y="3794356"/>
                </a:lnTo>
                <a:lnTo>
                  <a:pt x="0" y="3794356"/>
                </a:lnTo>
                <a:lnTo>
                  <a:pt x="0" y="0"/>
                </a:lnTo>
                <a:close/>
              </a:path>
            </a:pathLst>
          </a:custGeom>
          <a:blipFill>
            <a:blip r:embed="rId5"/>
            <a:stretch>
              <a:fillRect l="0" t="0" r="0" b="0"/>
            </a:stretch>
          </a:blipFill>
        </p:spPr>
      </p:sp>
      <p:sp>
        <p:nvSpPr>
          <p:cNvPr name="TextBox 6" id="6"/>
          <p:cNvSpPr txBox="true"/>
          <p:nvPr/>
        </p:nvSpPr>
        <p:spPr>
          <a:xfrm rot="0">
            <a:off x="2163395" y="970598"/>
            <a:ext cx="1766005" cy="396240"/>
          </a:xfrm>
          <a:prstGeom prst="rect">
            <a:avLst/>
          </a:prstGeom>
        </p:spPr>
        <p:txBody>
          <a:bodyPr anchor="t" rtlCol="false" tIns="0" lIns="0" bIns="0" rIns="0">
            <a:spAutoFit/>
          </a:bodyPr>
          <a:lstStyle/>
          <a:p>
            <a:pPr algn="l" marL="0" indent="0" lvl="0">
              <a:lnSpc>
                <a:spcPts val="3359"/>
              </a:lnSpc>
              <a:spcBef>
                <a:spcPct val="0"/>
              </a:spcBef>
            </a:pPr>
            <a:r>
              <a:rPr lang="en-US" b="true" sz="2400">
                <a:solidFill>
                  <a:srgbClr val="000000"/>
                </a:solidFill>
                <a:latin typeface="Montaser Arabic Ultra-Bold"/>
                <a:ea typeface="Montaser Arabic Ultra-Bold"/>
                <a:cs typeface="Montaser Arabic Ultra-Bold"/>
                <a:sym typeface="Montaser Arabic Ultra-Bold"/>
              </a:rPr>
              <a:t>Wash</a:t>
            </a:r>
          </a:p>
        </p:txBody>
      </p:sp>
      <p:sp>
        <p:nvSpPr>
          <p:cNvPr name="TextBox 7" id="7"/>
          <p:cNvSpPr txBox="true"/>
          <p:nvPr/>
        </p:nvSpPr>
        <p:spPr>
          <a:xfrm rot="0">
            <a:off x="1028700" y="970598"/>
            <a:ext cx="1583559" cy="396240"/>
          </a:xfrm>
          <a:prstGeom prst="rect">
            <a:avLst/>
          </a:prstGeom>
        </p:spPr>
        <p:txBody>
          <a:bodyPr anchor="t" rtlCol="false" tIns="0" lIns="0" bIns="0" rIns="0">
            <a:spAutoFit/>
          </a:bodyPr>
          <a:lstStyle/>
          <a:p>
            <a:pPr algn="l" marL="0" indent="0" lvl="0">
              <a:lnSpc>
                <a:spcPts val="3359"/>
              </a:lnSpc>
              <a:spcBef>
                <a:spcPct val="0"/>
              </a:spcBef>
            </a:pPr>
            <a:r>
              <a:rPr lang="en-US" b="true" sz="2400">
                <a:solidFill>
                  <a:srgbClr val="AB2609"/>
                </a:solidFill>
                <a:latin typeface="Montaser Arabic Ultra-Bold"/>
                <a:ea typeface="Montaser Arabic Ultra-Bold"/>
                <a:cs typeface="Montaser Arabic Ultra-Bold"/>
                <a:sym typeface="Montaser Arabic Ultra-Bold"/>
              </a:rPr>
              <a:t>Scarlet</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5143500"/>
            <a:ext cx="6874277" cy="5069779"/>
          </a:xfrm>
          <a:custGeom>
            <a:avLst/>
            <a:gdLst/>
            <a:ahLst/>
            <a:cxnLst/>
            <a:rect r="r" b="b" t="t" l="l"/>
            <a:pathLst>
              <a:path h="5069779" w="6874277">
                <a:moveTo>
                  <a:pt x="0" y="0"/>
                </a:moveTo>
                <a:lnTo>
                  <a:pt x="6874277" y="0"/>
                </a:lnTo>
                <a:lnTo>
                  <a:pt x="6874277" y="5069779"/>
                </a:lnTo>
                <a:lnTo>
                  <a:pt x="0" y="5069779"/>
                </a:lnTo>
                <a:lnTo>
                  <a:pt x="0" y="0"/>
                </a:lnTo>
                <a:close/>
              </a:path>
            </a:pathLst>
          </a:custGeom>
          <a:blipFill>
            <a:blip r:embed="rId2"/>
            <a:stretch>
              <a:fillRect l="0" t="0" r="0" b="0"/>
            </a:stretch>
          </a:blipFill>
        </p:spPr>
      </p:sp>
      <p:sp>
        <p:nvSpPr>
          <p:cNvPr name="TextBox 3" id="3"/>
          <p:cNvSpPr txBox="true"/>
          <p:nvPr/>
        </p:nvSpPr>
        <p:spPr>
          <a:xfrm rot="0">
            <a:off x="7309746" y="1701355"/>
            <a:ext cx="11036676" cy="754761"/>
          </a:xfrm>
          <a:prstGeom prst="rect">
            <a:avLst/>
          </a:prstGeom>
        </p:spPr>
        <p:txBody>
          <a:bodyPr anchor="t" rtlCol="false" tIns="0" lIns="0" bIns="0" rIns="0">
            <a:spAutoFit/>
          </a:bodyPr>
          <a:lstStyle/>
          <a:p>
            <a:pPr algn="ctr" marL="0" indent="0" lvl="0">
              <a:lnSpc>
                <a:spcPts val="6192"/>
              </a:lnSpc>
            </a:pPr>
            <a:r>
              <a:rPr lang="en-US" b="true" sz="4800">
                <a:solidFill>
                  <a:srgbClr val="AB2609"/>
                </a:solidFill>
                <a:latin typeface="Montaser Arabic Ultra-Bold"/>
                <a:ea typeface="Montaser Arabic Ultra-Bold"/>
                <a:cs typeface="Montaser Arabic Ultra-Bold"/>
                <a:sym typeface="Montaser Arabic Ultra-Bold"/>
              </a:rPr>
              <a:t>Initiative </a:t>
            </a:r>
          </a:p>
        </p:txBody>
      </p:sp>
      <p:sp>
        <p:nvSpPr>
          <p:cNvPr name="TextBox 4" id="4"/>
          <p:cNvSpPr txBox="true"/>
          <p:nvPr/>
        </p:nvSpPr>
        <p:spPr>
          <a:xfrm rot="0">
            <a:off x="1053905" y="2120022"/>
            <a:ext cx="5820372" cy="2554605"/>
          </a:xfrm>
          <a:prstGeom prst="rect">
            <a:avLst/>
          </a:prstGeom>
        </p:spPr>
        <p:txBody>
          <a:bodyPr anchor="t" rtlCol="false" tIns="0" lIns="0" bIns="0" rIns="0">
            <a:spAutoFit/>
          </a:bodyPr>
          <a:lstStyle/>
          <a:p>
            <a:pPr algn="just">
              <a:lnSpc>
                <a:spcPts val="4109"/>
              </a:lnSpc>
            </a:pPr>
            <a:r>
              <a:rPr lang="en-US" sz="2999">
                <a:solidFill>
                  <a:srgbClr val="000000"/>
                </a:solidFill>
                <a:latin typeface="TT Firs Neue"/>
                <a:ea typeface="TT Firs Neue"/>
                <a:cs typeface="TT Firs Neue"/>
                <a:sym typeface="TT Firs Neue"/>
              </a:rPr>
              <a:t>Effectiveness </a:t>
            </a:r>
          </a:p>
          <a:p>
            <a:pPr algn="just">
              <a:lnSpc>
                <a:spcPts val="4109"/>
              </a:lnSpc>
            </a:pPr>
          </a:p>
          <a:p>
            <a:pPr algn="just">
              <a:lnSpc>
                <a:spcPts val="4109"/>
              </a:lnSpc>
            </a:pPr>
            <a:r>
              <a:rPr lang="en-US" sz="2999">
                <a:solidFill>
                  <a:srgbClr val="000000"/>
                </a:solidFill>
                <a:latin typeface="TT Firs Neue"/>
                <a:ea typeface="TT Firs Neue"/>
                <a:cs typeface="TT Firs Neue"/>
                <a:sym typeface="TT Firs Neue"/>
              </a:rPr>
              <a:t>Client retention</a:t>
            </a:r>
          </a:p>
          <a:p>
            <a:pPr algn="just" marL="647695" indent="-323848" lvl="1">
              <a:lnSpc>
                <a:spcPts val="4109"/>
              </a:lnSpc>
              <a:buFont typeface="Arial"/>
              <a:buChar char="•"/>
            </a:pPr>
            <a:r>
              <a:rPr lang="en-US" sz="2999">
                <a:solidFill>
                  <a:srgbClr val="000000"/>
                </a:solidFill>
                <a:latin typeface="TT Firs Neue"/>
                <a:ea typeface="TT Firs Neue"/>
                <a:cs typeface="TT Firs Neue"/>
                <a:sym typeface="TT Firs Neue"/>
              </a:rPr>
              <a:t>Current rate: 78%</a:t>
            </a:r>
          </a:p>
          <a:p>
            <a:pPr algn="just" marL="647695" indent="-323848" lvl="1">
              <a:lnSpc>
                <a:spcPts val="4109"/>
              </a:lnSpc>
              <a:buFont typeface="Arial"/>
              <a:buChar char="•"/>
            </a:pPr>
            <a:r>
              <a:rPr lang="en-US" sz="2999">
                <a:solidFill>
                  <a:srgbClr val="000000"/>
                </a:solidFill>
                <a:latin typeface="TT Firs Neue"/>
                <a:ea typeface="TT Firs Neue"/>
                <a:cs typeface="TT Firs Neue"/>
                <a:sym typeface="TT Firs Neue"/>
              </a:rPr>
              <a:t>Goal: 80%</a:t>
            </a:r>
          </a:p>
        </p:txBody>
      </p:sp>
      <p:sp>
        <p:nvSpPr>
          <p:cNvPr name="TextBox 5" id="5"/>
          <p:cNvSpPr txBox="true"/>
          <p:nvPr/>
        </p:nvSpPr>
        <p:spPr>
          <a:xfrm rot="0">
            <a:off x="2163395" y="970598"/>
            <a:ext cx="1766005" cy="396240"/>
          </a:xfrm>
          <a:prstGeom prst="rect">
            <a:avLst/>
          </a:prstGeom>
        </p:spPr>
        <p:txBody>
          <a:bodyPr anchor="t" rtlCol="false" tIns="0" lIns="0" bIns="0" rIns="0">
            <a:spAutoFit/>
          </a:bodyPr>
          <a:lstStyle/>
          <a:p>
            <a:pPr algn="l" marL="0" indent="0" lvl="0">
              <a:lnSpc>
                <a:spcPts val="3359"/>
              </a:lnSpc>
              <a:spcBef>
                <a:spcPct val="0"/>
              </a:spcBef>
            </a:pPr>
            <a:r>
              <a:rPr lang="en-US" b="true" sz="2400">
                <a:solidFill>
                  <a:srgbClr val="000000"/>
                </a:solidFill>
                <a:latin typeface="Montaser Arabic Ultra-Bold"/>
                <a:ea typeface="Montaser Arabic Ultra-Bold"/>
                <a:cs typeface="Montaser Arabic Ultra-Bold"/>
                <a:sym typeface="Montaser Arabic Ultra-Bold"/>
              </a:rPr>
              <a:t>Wash</a:t>
            </a:r>
          </a:p>
        </p:txBody>
      </p:sp>
      <p:sp>
        <p:nvSpPr>
          <p:cNvPr name="TextBox 6" id="6"/>
          <p:cNvSpPr txBox="true"/>
          <p:nvPr/>
        </p:nvSpPr>
        <p:spPr>
          <a:xfrm rot="0">
            <a:off x="1028700" y="970598"/>
            <a:ext cx="1583559" cy="396240"/>
          </a:xfrm>
          <a:prstGeom prst="rect">
            <a:avLst/>
          </a:prstGeom>
        </p:spPr>
        <p:txBody>
          <a:bodyPr anchor="t" rtlCol="false" tIns="0" lIns="0" bIns="0" rIns="0">
            <a:spAutoFit/>
          </a:bodyPr>
          <a:lstStyle/>
          <a:p>
            <a:pPr algn="l" marL="0" indent="0" lvl="0">
              <a:lnSpc>
                <a:spcPts val="3359"/>
              </a:lnSpc>
              <a:spcBef>
                <a:spcPct val="0"/>
              </a:spcBef>
            </a:pPr>
            <a:r>
              <a:rPr lang="en-US" b="true" sz="2400">
                <a:solidFill>
                  <a:srgbClr val="AB2609"/>
                </a:solidFill>
                <a:latin typeface="Montaser Arabic Ultra-Bold"/>
                <a:ea typeface="Montaser Arabic Ultra-Bold"/>
                <a:cs typeface="Montaser Arabic Ultra-Bold"/>
                <a:sym typeface="Montaser Arabic Ultra-Bold"/>
              </a:rPr>
              <a:t>Scarlet</a:t>
            </a:r>
          </a:p>
        </p:txBody>
      </p:sp>
      <p:sp>
        <p:nvSpPr>
          <p:cNvPr name="TextBox 7" id="7"/>
          <p:cNvSpPr txBox="true"/>
          <p:nvPr/>
        </p:nvSpPr>
        <p:spPr>
          <a:xfrm rot="0">
            <a:off x="7309746" y="3017232"/>
            <a:ext cx="10978254" cy="5425440"/>
          </a:xfrm>
          <a:prstGeom prst="rect">
            <a:avLst/>
          </a:prstGeom>
        </p:spPr>
        <p:txBody>
          <a:bodyPr anchor="t" rtlCol="false" tIns="0" lIns="0" bIns="0" rIns="0">
            <a:spAutoFit/>
          </a:bodyPr>
          <a:lstStyle/>
          <a:p>
            <a:pPr algn="l">
              <a:lnSpc>
                <a:spcPts val="3359"/>
              </a:lnSpc>
            </a:pPr>
            <a:r>
              <a:rPr lang="en-US" sz="2400">
                <a:solidFill>
                  <a:srgbClr val="000000"/>
                </a:solidFill>
                <a:latin typeface="Montaser Arabic"/>
                <a:ea typeface="Montaser Arabic"/>
                <a:cs typeface="Montaser Arabic"/>
                <a:sym typeface="Montaser Arabic"/>
              </a:rPr>
              <a:t>To improve customer loyalty, Scarlet Wash will launch a loyalty rewards program and improve the customer experience. </a:t>
            </a:r>
          </a:p>
          <a:p>
            <a:pPr algn="l">
              <a:lnSpc>
                <a:spcPts val="3359"/>
              </a:lnSpc>
            </a:pPr>
            <a:r>
              <a:rPr lang="en-US" sz="2400">
                <a:solidFill>
                  <a:srgbClr val="000000"/>
                </a:solidFill>
                <a:latin typeface="Montaser Arabic"/>
                <a:ea typeface="Montaser Arabic"/>
                <a:cs typeface="Montaser Arabic"/>
                <a:sym typeface="Montaser Arabic"/>
              </a:rPr>
              <a:t>This includes:</a:t>
            </a:r>
          </a:p>
          <a:p>
            <a:pPr algn="l">
              <a:lnSpc>
                <a:spcPts val="3359"/>
              </a:lnSpc>
            </a:pPr>
          </a:p>
          <a:p>
            <a:pPr algn="l" marL="518160" indent="-259080" lvl="1">
              <a:lnSpc>
                <a:spcPts val="3359"/>
              </a:lnSpc>
              <a:buFont typeface="Arial"/>
              <a:buChar char="•"/>
            </a:pPr>
            <a:r>
              <a:rPr lang="en-US" sz="2400">
                <a:solidFill>
                  <a:srgbClr val="000000"/>
                </a:solidFill>
                <a:latin typeface="Montaser Arabic"/>
                <a:ea typeface="Montaser Arabic"/>
                <a:cs typeface="Montaser Arabic"/>
                <a:sym typeface="Montaser Arabic"/>
              </a:rPr>
              <a:t>M</a:t>
            </a:r>
            <a:r>
              <a:rPr lang="en-US" sz="2400">
                <a:solidFill>
                  <a:srgbClr val="000000"/>
                </a:solidFill>
                <a:latin typeface="Montaser Arabic"/>
                <a:ea typeface="Montaser Arabic"/>
                <a:cs typeface="Montaser Arabic"/>
                <a:sym typeface="Montaser Arabic"/>
              </a:rPr>
              <a:t>obile app that tracks orders and rewards customers.</a:t>
            </a:r>
          </a:p>
          <a:p>
            <a:pPr algn="l" marL="518160" indent="-259080" lvl="1">
              <a:lnSpc>
                <a:spcPts val="3359"/>
              </a:lnSpc>
              <a:buFont typeface="Arial"/>
              <a:buChar char="•"/>
            </a:pPr>
            <a:r>
              <a:rPr lang="en-US" sz="2400">
                <a:solidFill>
                  <a:srgbClr val="000000"/>
                </a:solidFill>
                <a:latin typeface="Montaser Arabic"/>
                <a:ea typeface="Montaser Arabic"/>
                <a:cs typeface="Montaser Arabic"/>
                <a:sym typeface="Montaser Arabic"/>
              </a:rPr>
              <a:t>N</a:t>
            </a:r>
            <a:r>
              <a:rPr lang="en-US" sz="2400">
                <a:solidFill>
                  <a:srgbClr val="000000"/>
                </a:solidFill>
                <a:latin typeface="Montaser Arabic"/>
                <a:ea typeface="Montaser Arabic"/>
                <a:cs typeface="Montaser Arabic"/>
                <a:sym typeface="Montaser Arabic"/>
              </a:rPr>
              <a:t>otifications when laundry is ready for pickup or delivery.</a:t>
            </a:r>
          </a:p>
          <a:p>
            <a:pPr algn="l" marL="518160" indent="-259080" lvl="1">
              <a:lnSpc>
                <a:spcPts val="3359"/>
              </a:lnSpc>
              <a:buFont typeface="Arial"/>
              <a:buChar char="•"/>
            </a:pPr>
            <a:r>
              <a:rPr lang="en-US" sz="2400">
                <a:solidFill>
                  <a:srgbClr val="000000"/>
                </a:solidFill>
                <a:latin typeface="Montaser Arabic"/>
                <a:ea typeface="Montaser Arabic"/>
                <a:cs typeface="Montaser Arabic"/>
                <a:sym typeface="Montaser Arabic"/>
              </a:rPr>
              <a:t>D</a:t>
            </a:r>
            <a:r>
              <a:rPr lang="en-US" sz="2400">
                <a:solidFill>
                  <a:srgbClr val="000000"/>
                </a:solidFill>
                <a:latin typeface="Montaser Arabic"/>
                <a:ea typeface="Montaser Arabic"/>
                <a:cs typeface="Montaser Arabic"/>
                <a:sym typeface="Montaser Arabic"/>
              </a:rPr>
              <a:t>iscounts and referrals to enc</a:t>
            </a:r>
            <a:r>
              <a:rPr lang="en-US" sz="2400">
                <a:solidFill>
                  <a:srgbClr val="000000"/>
                </a:solidFill>
                <a:latin typeface="Montaser Arabic"/>
                <a:ea typeface="Montaser Arabic"/>
                <a:cs typeface="Montaser Arabic"/>
                <a:sym typeface="Montaser Arabic"/>
              </a:rPr>
              <a:t>ourage current and new customers.</a:t>
            </a:r>
          </a:p>
          <a:p>
            <a:pPr algn="l" marL="518160" indent="-259080" lvl="1">
              <a:lnSpc>
                <a:spcPts val="3359"/>
              </a:lnSpc>
              <a:buFont typeface="Arial"/>
              <a:buChar char="•"/>
            </a:pPr>
            <a:r>
              <a:rPr lang="en-US" sz="2400">
                <a:solidFill>
                  <a:srgbClr val="000000"/>
                </a:solidFill>
                <a:latin typeface="Montaser Arabic"/>
                <a:ea typeface="Montaser Arabic"/>
                <a:cs typeface="Montaser Arabic"/>
                <a:sym typeface="Montaser Arabic"/>
              </a:rPr>
              <a:t>Conducting regular quality checks and sending out customer satisfaction surveys.</a:t>
            </a:r>
          </a:p>
          <a:p>
            <a:pPr algn="l">
              <a:lnSpc>
                <a:spcPts val="3359"/>
              </a:lnSpc>
              <a:spcBef>
                <a:spcPct val="0"/>
              </a:spcBef>
            </a:pPr>
            <a:r>
              <a:rPr lang="en-US" sz="2400">
                <a:solidFill>
                  <a:srgbClr val="000000"/>
                </a:solidFill>
                <a:latin typeface="Montaser Arabic"/>
                <a:ea typeface="Montaser Arabic"/>
                <a:cs typeface="Montaser Arabic"/>
                <a:sym typeface="Montaser Arabic"/>
              </a:rPr>
              <a:t> </a:t>
            </a:r>
          </a:p>
          <a:p>
            <a:pPr algn="l">
              <a:lnSpc>
                <a:spcPts val="3359"/>
              </a:lnSpc>
              <a:spcBef>
                <a:spcPct val="0"/>
              </a:spcBef>
            </a:pPr>
            <a:r>
              <a:rPr lang="en-US" sz="2400">
                <a:solidFill>
                  <a:srgbClr val="000000"/>
                </a:solidFill>
                <a:latin typeface="Montaser Arabic"/>
                <a:ea typeface="Montaser Arabic"/>
                <a:cs typeface="Montaser Arabic"/>
                <a:sym typeface="Montaser Arabic"/>
              </a:rPr>
              <a:t>These changes will make the process more customer-centered, increase satisfaction and help us expand. This will help Scarlet Wash reach an 80% retention rate within the next quarter and 90% by the end of 2026.</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1520098">
            <a:off x="11020518" y="1374867"/>
            <a:ext cx="6233551" cy="6233551"/>
          </a:xfrm>
          <a:custGeom>
            <a:avLst/>
            <a:gdLst/>
            <a:ahLst/>
            <a:cxnLst/>
            <a:rect r="r" b="b" t="t" l="l"/>
            <a:pathLst>
              <a:path h="6233551" w="6233551">
                <a:moveTo>
                  <a:pt x="0" y="0"/>
                </a:moveTo>
                <a:lnTo>
                  <a:pt x="6233550" y="0"/>
                </a:lnTo>
                <a:lnTo>
                  <a:pt x="6233550" y="6233551"/>
                </a:lnTo>
                <a:lnTo>
                  <a:pt x="0" y="6233551"/>
                </a:lnTo>
                <a:lnTo>
                  <a:pt x="0" y="0"/>
                </a:lnTo>
                <a:close/>
              </a:path>
            </a:pathLst>
          </a:custGeom>
          <a:blipFill>
            <a:blip r:embed="rId2"/>
            <a:stretch>
              <a:fillRect l="0" t="0" r="0" b="0"/>
            </a:stretch>
          </a:blipFill>
        </p:spPr>
      </p:sp>
      <p:sp>
        <p:nvSpPr>
          <p:cNvPr name="TextBox 3" id="3"/>
          <p:cNvSpPr txBox="true"/>
          <p:nvPr/>
        </p:nvSpPr>
        <p:spPr>
          <a:xfrm rot="0">
            <a:off x="1028700" y="2586990"/>
            <a:ext cx="8838722" cy="6671310"/>
          </a:xfrm>
          <a:prstGeom prst="rect">
            <a:avLst/>
          </a:prstGeom>
        </p:spPr>
        <p:txBody>
          <a:bodyPr anchor="t" rtlCol="false" tIns="0" lIns="0" bIns="0" rIns="0">
            <a:spAutoFit/>
          </a:bodyPr>
          <a:lstStyle/>
          <a:p>
            <a:pPr algn="just" marL="453390" indent="-226695" lvl="1">
              <a:lnSpc>
                <a:spcPts val="2940"/>
              </a:lnSpc>
              <a:buFont typeface="Arial"/>
              <a:buChar char="•"/>
            </a:pPr>
            <a:r>
              <a:rPr lang="en-US" sz="2100">
                <a:solidFill>
                  <a:srgbClr val="000000"/>
                </a:solidFill>
                <a:latin typeface="TT Firs Neue"/>
                <a:ea typeface="TT Firs Neue"/>
                <a:cs typeface="TT Firs Neue"/>
                <a:sym typeface="TT Firs Neue"/>
              </a:rPr>
              <a:t>We will not sell because our mission is rooted in serving the college and students. By selling to buyers with no experience or commitment to that mission would undermine our founding purpose.</a:t>
            </a:r>
          </a:p>
          <a:p>
            <a:pPr algn="just" marL="453390" indent="-226695" lvl="1">
              <a:lnSpc>
                <a:spcPts val="2940"/>
              </a:lnSpc>
              <a:buFont typeface="Arial"/>
              <a:buChar char="•"/>
            </a:pPr>
            <a:r>
              <a:rPr lang="en-US" sz="2100">
                <a:solidFill>
                  <a:srgbClr val="000000"/>
                </a:solidFill>
                <a:latin typeface="TT Firs Neue"/>
                <a:ea typeface="TT Firs Neue"/>
                <a:cs typeface="TT Firs Neue"/>
                <a:sym typeface="TT Firs Neue"/>
              </a:rPr>
              <a:t>The sale would financially benefit a small group of shareholders while negatively affecting employees, students, and the college itself that relies on our services and social impact</a:t>
            </a:r>
          </a:p>
          <a:p>
            <a:pPr algn="just" marL="453390" indent="-226695" lvl="1">
              <a:lnSpc>
                <a:spcPts val="2940"/>
              </a:lnSpc>
              <a:buFont typeface="Arial"/>
              <a:buChar char="•"/>
            </a:pPr>
            <a:r>
              <a:rPr lang="en-US" sz="2100">
                <a:solidFill>
                  <a:srgbClr val="000000"/>
                </a:solidFill>
                <a:latin typeface="TT Firs Neue"/>
                <a:ea typeface="TT Firs Neue"/>
                <a:cs typeface="TT Firs Neue"/>
                <a:sym typeface="TT Firs Neue"/>
              </a:rPr>
              <a:t>Accepting the offer could damage our long-standing reputation, weaken our community-centered brand identity, and jeopardize the trust built with customers who value its nonprofit commitment.</a:t>
            </a:r>
          </a:p>
          <a:p>
            <a:pPr algn="just" marL="453390" indent="-226695" lvl="1">
              <a:lnSpc>
                <a:spcPts val="2940"/>
              </a:lnSpc>
              <a:buFont typeface="Arial"/>
              <a:buChar char="•"/>
            </a:pPr>
            <a:r>
              <a:rPr lang="en-US" sz="2100">
                <a:solidFill>
                  <a:srgbClr val="000000"/>
                </a:solidFill>
                <a:latin typeface="TT Firs Neue"/>
                <a:ea typeface="TT Firs Neue"/>
                <a:cs typeface="TT Firs Neue"/>
                <a:sym typeface="TT Firs Neue"/>
              </a:rPr>
              <a:t>The buyers’ lack of operational experience and their casual, “for fun” business approach pose serious risks to the long-term stability and sustainability of our company, turning short-term financial gain into potentially long term failure.</a:t>
            </a:r>
          </a:p>
          <a:p>
            <a:pPr algn="just" marL="453390" indent="-226695" lvl="1">
              <a:lnSpc>
                <a:spcPts val="2940"/>
              </a:lnSpc>
              <a:buFont typeface="Arial"/>
              <a:buChar char="•"/>
            </a:pPr>
            <a:r>
              <a:rPr lang="en-US" sz="2100">
                <a:solidFill>
                  <a:srgbClr val="000000"/>
                </a:solidFill>
                <a:latin typeface="TT Firs Neue"/>
                <a:ea typeface="TT Firs Neue"/>
                <a:cs typeface="TT Firs Neue"/>
                <a:sym typeface="TT Firs Neue"/>
              </a:rPr>
              <a:t>Instead of selling, Scarlet Wash will pursue alternatives such as mission-aligned investors, strategic partnerships, or expansion funding that support growth without abandoning the organization’s social purpose.</a:t>
            </a:r>
          </a:p>
        </p:txBody>
      </p:sp>
      <p:sp>
        <p:nvSpPr>
          <p:cNvPr name="TextBox 4" id="4"/>
          <p:cNvSpPr txBox="true"/>
          <p:nvPr/>
        </p:nvSpPr>
        <p:spPr>
          <a:xfrm rot="0">
            <a:off x="2163395" y="970598"/>
            <a:ext cx="1766005" cy="396240"/>
          </a:xfrm>
          <a:prstGeom prst="rect">
            <a:avLst/>
          </a:prstGeom>
        </p:spPr>
        <p:txBody>
          <a:bodyPr anchor="t" rtlCol="false" tIns="0" lIns="0" bIns="0" rIns="0">
            <a:spAutoFit/>
          </a:bodyPr>
          <a:lstStyle/>
          <a:p>
            <a:pPr algn="l" marL="0" indent="0" lvl="0">
              <a:lnSpc>
                <a:spcPts val="3359"/>
              </a:lnSpc>
              <a:spcBef>
                <a:spcPct val="0"/>
              </a:spcBef>
            </a:pPr>
            <a:r>
              <a:rPr lang="en-US" b="true" sz="2400">
                <a:solidFill>
                  <a:srgbClr val="000000"/>
                </a:solidFill>
                <a:latin typeface="Montaser Arabic Ultra-Bold"/>
                <a:ea typeface="Montaser Arabic Ultra-Bold"/>
                <a:cs typeface="Montaser Arabic Ultra-Bold"/>
                <a:sym typeface="Montaser Arabic Ultra-Bold"/>
              </a:rPr>
              <a:t>Wash</a:t>
            </a:r>
          </a:p>
        </p:txBody>
      </p:sp>
      <p:sp>
        <p:nvSpPr>
          <p:cNvPr name="TextBox 5" id="5"/>
          <p:cNvSpPr txBox="true"/>
          <p:nvPr/>
        </p:nvSpPr>
        <p:spPr>
          <a:xfrm rot="0">
            <a:off x="1028700" y="970598"/>
            <a:ext cx="1583559" cy="396240"/>
          </a:xfrm>
          <a:prstGeom prst="rect">
            <a:avLst/>
          </a:prstGeom>
        </p:spPr>
        <p:txBody>
          <a:bodyPr anchor="t" rtlCol="false" tIns="0" lIns="0" bIns="0" rIns="0">
            <a:spAutoFit/>
          </a:bodyPr>
          <a:lstStyle/>
          <a:p>
            <a:pPr algn="l" marL="0" indent="0" lvl="0">
              <a:lnSpc>
                <a:spcPts val="3359"/>
              </a:lnSpc>
              <a:spcBef>
                <a:spcPct val="0"/>
              </a:spcBef>
            </a:pPr>
            <a:r>
              <a:rPr lang="en-US" b="true" sz="2400">
                <a:solidFill>
                  <a:srgbClr val="AB2609"/>
                </a:solidFill>
                <a:latin typeface="Montaser Arabic Ultra-Bold"/>
                <a:ea typeface="Montaser Arabic Ultra-Bold"/>
                <a:cs typeface="Montaser Arabic Ultra-Bold"/>
                <a:sym typeface="Montaser Arabic Ultra-Bold"/>
              </a:rPr>
              <a:t>Scarlet</a:t>
            </a:r>
          </a:p>
        </p:txBody>
      </p:sp>
      <p:sp>
        <p:nvSpPr>
          <p:cNvPr name="TextBox 6" id="6"/>
          <p:cNvSpPr txBox="true"/>
          <p:nvPr/>
        </p:nvSpPr>
        <p:spPr>
          <a:xfrm rot="0">
            <a:off x="1028700" y="1396559"/>
            <a:ext cx="9196274" cy="811530"/>
          </a:xfrm>
          <a:prstGeom prst="rect">
            <a:avLst/>
          </a:prstGeom>
        </p:spPr>
        <p:txBody>
          <a:bodyPr anchor="t" rtlCol="false" tIns="0" lIns="0" bIns="0" rIns="0">
            <a:spAutoFit/>
          </a:bodyPr>
          <a:lstStyle/>
          <a:p>
            <a:pPr algn="ctr">
              <a:lnSpc>
                <a:spcPts val="6719"/>
              </a:lnSpc>
              <a:spcBef>
                <a:spcPct val="0"/>
              </a:spcBef>
            </a:pPr>
            <a:r>
              <a:rPr lang="en-US" b="true" sz="4800">
                <a:solidFill>
                  <a:srgbClr val="AB2609"/>
                </a:solidFill>
                <a:latin typeface="Montaser Arabic Ultra-Bold"/>
                <a:ea typeface="Montaser Arabic Ultra-Bold"/>
                <a:cs typeface="Montaser Arabic Ultra-Bold"/>
                <a:sym typeface="Montaser Arabic Ultra-Bold"/>
              </a:rPr>
              <a:t>What Our Business Decided  </a:t>
            </a:r>
          </a:p>
        </p:txBody>
      </p:sp>
    </p:spTree>
  </p:cSld>
  <p:clrMapOvr>
    <a:masterClrMapping/>
  </p:clrMapOvr>
</p:sld>
</file>

<file path=ppt/slides/slide19.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28700" y="1486222"/>
            <a:ext cx="16621650" cy="754761"/>
          </a:xfrm>
          <a:prstGeom prst="rect">
            <a:avLst/>
          </a:prstGeom>
        </p:spPr>
        <p:txBody>
          <a:bodyPr anchor="t" rtlCol="false" tIns="0" lIns="0" bIns="0" rIns="0">
            <a:spAutoFit/>
          </a:bodyPr>
          <a:lstStyle/>
          <a:p>
            <a:pPr algn="l" marL="0" indent="0" lvl="0">
              <a:lnSpc>
                <a:spcPts val="6192"/>
              </a:lnSpc>
            </a:pPr>
            <a:r>
              <a:rPr lang="en-US" b="true" sz="4800">
                <a:solidFill>
                  <a:srgbClr val="AB2609"/>
                </a:solidFill>
                <a:latin typeface="Montaser Arabic Ultra-Bold"/>
                <a:ea typeface="Montaser Arabic Ultra-Bold"/>
                <a:cs typeface="Montaser Arabic Ultra-Bold"/>
                <a:sym typeface="Montaser Arabic Ultra-Bold"/>
              </a:rPr>
              <a:t>Why We’re Successful </a:t>
            </a:r>
          </a:p>
        </p:txBody>
      </p:sp>
      <p:sp>
        <p:nvSpPr>
          <p:cNvPr name="TextBox 3" id="3"/>
          <p:cNvSpPr txBox="true"/>
          <p:nvPr/>
        </p:nvSpPr>
        <p:spPr>
          <a:xfrm rot="0">
            <a:off x="1028700" y="2592657"/>
            <a:ext cx="16230600" cy="6299835"/>
          </a:xfrm>
          <a:prstGeom prst="rect">
            <a:avLst/>
          </a:prstGeom>
        </p:spPr>
        <p:txBody>
          <a:bodyPr anchor="t" rtlCol="false" tIns="0" lIns="0" bIns="0" rIns="0">
            <a:spAutoFit/>
          </a:bodyPr>
          <a:lstStyle/>
          <a:p>
            <a:pPr algn="just">
              <a:lnSpc>
                <a:spcPts val="2940"/>
              </a:lnSpc>
            </a:pPr>
            <a:r>
              <a:rPr lang="en-US" sz="2100">
                <a:solidFill>
                  <a:srgbClr val="6D6D6D"/>
                </a:solidFill>
                <a:latin typeface="TT Firs Neue"/>
                <a:ea typeface="TT Firs Neue"/>
                <a:cs typeface="TT Firs Neue"/>
                <a:sym typeface="TT Firs Neue"/>
              </a:rPr>
              <a:t>        </a:t>
            </a:r>
            <a:r>
              <a:rPr lang="en-US" sz="2100">
                <a:solidFill>
                  <a:srgbClr val="000000"/>
                </a:solidFill>
                <a:latin typeface="TT Firs Neue"/>
                <a:ea typeface="TT Firs Neue"/>
                <a:cs typeface="TT Firs Neue"/>
                <a:sym typeface="TT Firs Neue"/>
              </a:rPr>
              <a:t>  Scarlet Wash has achieved strong success because it delivers a service that directly addresses one of the biggest pain points for college students: lack of time. By offering an affordable and reliable laundry service through both single-use and membership options, each week, we effectively remove the stressful task students’ schedules. </a:t>
            </a:r>
            <a:r>
              <a:rPr lang="en-US" sz="2100">
                <a:solidFill>
                  <a:srgbClr val="000000"/>
                </a:solidFill>
                <a:latin typeface="TT Firs Neue"/>
                <a:ea typeface="TT Firs Neue"/>
                <a:cs typeface="TT Firs Neue"/>
                <a:sym typeface="TT Firs Neue"/>
              </a:rPr>
              <a:t>This clear value proposition, saving time, reducing effort, and guaranteeing clean, ready-to-wear clothing has resonated strongly across campus.</a:t>
            </a:r>
          </a:p>
          <a:p>
            <a:pPr algn="just">
              <a:lnSpc>
                <a:spcPts val="2940"/>
              </a:lnSpc>
            </a:pPr>
            <a:r>
              <a:rPr lang="en-US" sz="2100">
                <a:solidFill>
                  <a:srgbClr val="000000"/>
                </a:solidFill>
                <a:latin typeface="TT Firs Neue"/>
                <a:ea typeface="TT Firs Neue"/>
                <a:cs typeface="TT Firs Neue"/>
                <a:sym typeface="TT Firs Neue"/>
              </a:rPr>
              <a:t>          Scarlet Wash</a:t>
            </a:r>
            <a:r>
              <a:rPr lang="en-US" sz="2100">
                <a:solidFill>
                  <a:srgbClr val="000000"/>
                </a:solidFill>
                <a:latin typeface="TT Firs Neue"/>
                <a:ea typeface="TT Firs Neue"/>
                <a:cs typeface="TT Firs Neue"/>
                <a:sym typeface="TT Firs Neue"/>
              </a:rPr>
              <a:t> is also mission-driven with our primary goal being to support student well-being and reinest profits back into our partner universities. Our nonprofit structure has built trust and loyalty among students, faculty, and administrators, differentiating Scarlet Wash from the current, traditional laundry services. Our commitment to affordability, sustainability, quality care, and convenience further strengthens the Scarlet Wash appeal.</a:t>
            </a:r>
          </a:p>
          <a:p>
            <a:pPr algn="just">
              <a:lnSpc>
                <a:spcPts val="2940"/>
              </a:lnSpc>
            </a:pPr>
            <a:r>
              <a:rPr lang="en-US" sz="2100">
                <a:solidFill>
                  <a:srgbClr val="000000"/>
                </a:solidFill>
                <a:latin typeface="TT Firs Neue"/>
                <a:ea typeface="TT Firs Neue"/>
                <a:cs typeface="TT Firs Neue"/>
                <a:sym typeface="TT Firs Neue"/>
              </a:rPr>
              <a:t>       Our success is, in large part, due to our focus on smooth operations; We created fast turnaround times, reliable order tracking, consistent quality checks, and strong customer communication. Strategic initiatives such as loyalty programs, flexible subscription options, seasonal services, and new product innovations, like stain care, repairs, and same-day service have helped increase customer retention and expand the average order value.</a:t>
            </a:r>
          </a:p>
          <a:p>
            <a:pPr algn="just">
              <a:lnSpc>
                <a:spcPts val="2940"/>
              </a:lnSpc>
            </a:pPr>
            <a:r>
              <a:rPr lang="en-US" sz="2100">
                <a:solidFill>
                  <a:srgbClr val="000000"/>
                </a:solidFill>
                <a:latin typeface="TT Firs Neue"/>
                <a:ea typeface="TT Firs Neue"/>
                <a:cs typeface="TT Firs Neue"/>
                <a:sym typeface="TT Firs Neue"/>
              </a:rPr>
              <a:t>          Additionally, Scarlet Wash’s emphasis on Employee Engagement has created a workforce that </a:t>
            </a:r>
            <a:r>
              <a:rPr lang="en-US" sz="2100" i="true">
                <a:solidFill>
                  <a:srgbClr val="000000"/>
                </a:solidFill>
                <a:latin typeface="TT Firs Neue Italics"/>
                <a:ea typeface="TT Firs Neue Italics"/>
                <a:cs typeface="TT Firs Neue Italics"/>
                <a:sym typeface="TT Firs Neue Italics"/>
              </a:rPr>
              <a:t>wants </a:t>
            </a:r>
            <a:r>
              <a:rPr lang="en-US" sz="2100">
                <a:solidFill>
                  <a:srgbClr val="000000"/>
                </a:solidFill>
                <a:latin typeface="TT Firs Neue"/>
                <a:ea typeface="TT Firs Neue"/>
                <a:cs typeface="TT Firs Neue"/>
                <a:sym typeface="TT Firs Neue"/>
              </a:rPr>
              <a:t>to be a part of our tean, proven in how they strive to deliver high service and care about college students. Our team is able stay connected and efficient through flexible scheduling, recognition programs, training, and performance incentives.</a:t>
            </a:r>
          </a:p>
          <a:p>
            <a:pPr algn="just" marL="0" indent="0" lvl="0">
              <a:lnSpc>
                <a:spcPts val="2940"/>
              </a:lnSpc>
              <a:spcBef>
                <a:spcPct val="0"/>
              </a:spcBef>
            </a:pPr>
            <a:r>
              <a:rPr lang="en-US" sz="2100">
                <a:solidFill>
                  <a:srgbClr val="000000"/>
                </a:solidFill>
                <a:latin typeface="TT Firs Neue"/>
                <a:ea typeface="TT Firs Neue"/>
                <a:cs typeface="TT Firs Neue"/>
                <a:sym typeface="TT Firs Neue"/>
              </a:rPr>
              <a:t>         Scarlet Wash--in our cohesive mission, operations, customer experience, and employee culture--has built a trusted brand that meets real student needs, maintained strong employee retention, and continues to grow sustainably.</a:t>
            </a:r>
          </a:p>
        </p:txBody>
      </p:sp>
      <p:sp>
        <p:nvSpPr>
          <p:cNvPr name="TextBox 4" id="4"/>
          <p:cNvSpPr txBox="true"/>
          <p:nvPr/>
        </p:nvSpPr>
        <p:spPr>
          <a:xfrm rot="0">
            <a:off x="2163395" y="970598"/>
            <a:ext cx="1766005" cy="396240"/>
          </a:xfrm>
          <a:prstGeom prst="rect">
            <a:avLst/>
          </a:prstGeom>
        </p:spPr>
        <p:txBody>
          <a:bodyPr anchor="t" rtlCol="false" tIns="0" lIns="0" bIns="0" rIns="0">
            <a:spAutoFit/>
          </a:bodyPr>
          <a:lstStyle/>
          <a:p>
            <a:pPr algn="l" marL="0" indent="0" lvl="0">
              <a:lnSpc>
                <a:spcPts val="3359"/>
              </a:lnSpc>
              <a:spcBef>
                <a:spcPct val="0"/>
              </a:spcBef>
            </a:pPr>
            <a:r>
              <a:rPr lang="en-US" b="true" sz="2400">
                <a:solidFill>
                  <a:srgbClr val="000000"/>
                </a:solidFill>
                <a:latin typeface="Montaser Arabic Ultra-Bold"/>
                <a:ea typeface="Montaser Arabic Ultra-Bold"/>
                <a:cs typeface="Montaser Arabic Ultra-Bold"/>
                <a:sym typeface="Montaser Arabic Ultra-Bold"/>
              </a:rPr>
              <a:t>Wash</a:t>
            </a:r>
          </a:p>
        </p:txBody>
      </p:sp>
      <p:sp>
        <p:nvSpPr>
          <p:cNvPr name="TextBox 5" id="5"/>
          <p:cNvSpPr txBox="true"/>
          <p:nvPr/>
        </p:nvSpPr>
        <p:spPr>
          <a:xfrm rot="0">
            <a:off x="1028700" y="970598"/>
            <a:ext cx="1583559" cy="396240"/>
          </a:xfrm>
          <a:prstGeom prst="rect">
            <a:avLst/>
          </a:prstGeom>
        </p:spPr>
        <p:txBody>
          <a:bodyPr anchor="t" rtlCol="false" tIns="0" lIns="0" bIns="0" rIns="0">
            <a:spAutoFit/>
          </a:bodyPr>
          <a:lstStyle/>
          <a:p>
            <a:pPr algn="l" marL="0" indent="0" lvl="0">
              <a:lnSpc>
                <a:spcPts val="3359"/>
              </a:lnSpc>
              <a:spcBef>
                <a:spcPct val="0"/>
              </a:spcBef>
            </a:pPr>
            <a:r>
              <a:rPr lang="en-US" b="true" sz="2400">
                <a:solidFill>
                  <a:srgbClr val="AB2609"/>
                </a:solidFill>
                <a:latin typeface="Montaser Arabic Ultra-Bold"/>
                <a:ea typeface="Montaser Arabic Ultra-Bold"/>
                <a:cs typeface="Montaser Arabic Ultra-Bold"/>
                <a:sym typeface="Montaser Arabic Ultra-Bold"/>
              </a:rPr>
              <a:t>Scarlet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DAG4m-hv9Tk</dc:identifier>
  <dcterms:modified xsi:type="dcterms:W3CDTF">2011-08-01T06:04:30Z</dcterms:modified>
  <cp:revision>1</cp:revision>
  <dc:title>Team 19 Final Project</dc:title>
</cp:coreProperties>
</file>